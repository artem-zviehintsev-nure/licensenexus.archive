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3"/>
  </p:notesMasterIdLst>
  <p:sldIdLst>
    <p:sldId id="256" r:id="rId2"/>
    <p:sldId id="257" r:id="rId3"/>
    <p:sldId id="258" r:id="rId4"/>
    <p:sldId id="261" r:id="rId5"/>
    <p:sldId id="259" r:id="rId6"/>
    <p:sldId id="263" r:id="rId7"/>
    <p:sldId id="264" r:id="rId8"/>
    <p:sldId id="265" r:id="rId9"/>
    <p:sldId id="266" r:id="rId10"/>
    <p:sldId id="260" r:id="rId11"/>
    <p:sldId id="268" r:id="rId12"/>
    <p:sldId id="269" r:id="rId13"/>
    <p:sldId id="272" r:id="rId14"/>
    <p:sldId id="281" r:id="rId15"/>
    <p:sldId id="274" r:id="rId16"/>
    <p:sldId id="275" r:id="rId17"/>
    <p:sldId id="277" r:id="rId18"/>
    <p:sldId id="278" r:id="rId19"/>
    <p:sldId id="280" r:id="rId20"/>
    <p:sldId id="279" r:id="rId21"/>
    <p:sldId id="282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A881291-9A06-4C99-A563-20B62E4B4350}">
          <p14:sldIdLst>
            <p14:sldId id="256"/>
            <p14:sldId id="257"/>
            <p14:sldId id="258"/>
            <p14:sldId id="261"/>
            <p14:sldId id="259"/>
            <p14:sldId id="263"/>
            <p14:sldId id="264"/>
            <p14:sldId id="265"/>
            <p14:sldId id="266"/>
            <p14:sldId id="260"/>
            <p14:sldId id="268"/>
            <p14:sldId id="269"/>
            <p14:sldId id="272"/>
            <p14:sldId id="281"/>
            <p14:sldId id="274"/>
            <p14:sldId id="275"/>
            <p14:sldId id="277"/>
            <p14:sldId id="278"/>
            <p14:sldId id="280"/>
            <p14:sldId id="279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Стиль из темы 2 - акцент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5" autoAdjust="0"/>
    <p:restoredTop sz="77576" autoAdjust="0"/>
  </p:normalViewPr>
  <p:slideViewPr>
    <p:cSldViewPr snapToGrid="0">
      <p:cViewPr varScale="1">
        <p:scale>
          <a:sx n="53" d="100"/>
          <a:sy n="53" d="100"/>
        </p:scale>
        <p:origin x="1038" y="78"/>
      </p:cViewPr>
      <p:guideLst>
        <p:guide orient="horz" pos="2115"/>
        <p:guide pos="3795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1" d="100"/>
          <a:sy n="121" d="100"/>
        </p:scale>
        <p:origin x="109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2.xml"/><Relationship Id="rId1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A25618-B332-4DE1-95D9-100132C78C62}" type="datetimeFigureOut">
              <a:rPr lang="uk-UA" smtClean="0"/>
              <a:t>07.05.2026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uk-UA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96E41-7251-4B5D-8218-E2A5ACFC76E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43189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Каталог товарів є ключовим елементом будь-якої платформи електронної комерції, адже від нього залежить швидкодія всієї системи. Зі стрімким зростанням обсягів даних традиційні реляційні бази стикаються з суттєвими обмеженнями масштабованості. З іншого боку, </a:t>
            </a:r>
            <a:r>
              <a:rPr lang="en-US" dirty="0"/>
              <a:t>NoSQL </a:t>
            </a:r>
            <a:r>
              <a:rPr lang="uk-UA" dirty="0"/>
              <a:t>системи працюють швидше, але часто поступаються у транзакційності. Саме тому сучасним рішенням є використання гетерогенних баз даних, де різні СКБД доповнюють одна одну. У нашому дослідженні ми розглядаємо найбільш популярні з них - </a:t>
            </a:r>
            <a:r>
              <a:rPr lang="en-US" dirty="0"/>
              <a:t>Redis </a:t>
            </a:r>
            <a:r>
              <a:rPr lang="uk-UA" dirty="0"/>
              <a:t>та </a:t>
            </a:r>
            <a:r>
              <a:rPr lang="en-US" dirty="0"/>
              <a:t>MongoDB, </a:t>
            </a:r>
            <a:r>
              <a:rPr lang="uk-UA" dirty="0"/>
              <a:t>щоб експериментально порівняти їх ефективність у гібридних </a:t>
            </a:r>
            <a:r>
              <a:rPr lang="uk-UA" dirty="0" err="1"/>
              <a:t>архітектурах</a:t>
            </a:r>
            <a:r>
              <a:rPr lang="uk-UA" dirty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Метою даної роботи є дослідження методів реалізації каталогів товарів за допомогою гетерогенних баз даних та аналіз їх ефективності в умовах високої інтенсивності запитів.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noProof="0" dirty="0"/>
              <a:t>Для досягнення цієї мети ми поставили перед собою такі задачі: обрати найбільш релевантні класи СКБД та </a:t>
            </a:r>
            <a:r>
              <a:rPr lang="uk-UA" noProof="0" dirty="0" err="1"/>
              <a:t>спроєктувати</a:t>
            </a:r>
            <a:r>
              <a:rPr lang="uk-UA" noProof="0" dirty="0"/>
              <a:t> для них архітектурні рішення. Далі підготувати експериментальну базу, що включає розробку моделей, прототипів та спеціального ПЗ для тестування. Фінальним кроком є проведення експериментів, аналіз метрик та розробка практичних рекомендацій</a:t>
            </a:r>
            <a:r>
              <a:rPr lang="ru-RU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9561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Для вибору оптимальної архітектури каталогу ми сформували множину з п'яти альтернатив, що поєднують різні класи СКБД: від самостійної </a:t>
            </a:r>
            <a:r>
              <a:rPr lang="en-US" dirty="0"/>
              <a:t>MongoDB </a:t>
            </a:r>
            <a:r>
              <a:rPr lang="uk-UA" dirty="0"/>
              <a:t>до трикомпонентної системи </a:t>
            </a:r>
            <a:r>
              <a:rPr lang="en-US" dirty="0"/>
              <a:t>MS SQL </a:t>
            </a:r>
            <a:r>
              <a:rPr lang="uk-UA" dirty="0"/>
              <a:t>з </a:t>
            </a:r>
            <a:r>
              <a:rPr lang="en-US" dirty="0"/>
              <a:t>Redis </a:t>
            </a:r>
            <a:r>
              <a:rPr lang="uk-UA" dirty="0"/>
              <a:t>та </a:t>
            </a:r>
            <a:r>
              <a:rPr lang="en-US" dirty="0"/>
              <a:t>Elasticsearch.</a:t>
            </a:r>
            <a:br>
              <a:rPr lang="uk-UA" dirty="0"/>
            </a:br>
            <a:br>
              <a:rPr lang="uk-UA" dirty="0"/>
            </a:br>
            <a:r>
              <a:rPr lang="uk-UA" dirty="0"/>
              <a:t>Щоб об'єктивно їх порівняти, було визначено вісім критеріїв. Найбільшу вагу отримали продуктивність та складність інтеграції. Також враховувалися масштабованість, узгодженість даних, гнучкість схеми, можливості пошуку, вартість ліцензування та популярність рішень.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96E41-7251-4B5D-8218-E2A5ACFC76E1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02300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Оцінювання</a:t>
            </a:r>
            <a:r>
              <a:rPr lang="ru-RU" dirty="0"/>
              <a:t> альтернатив </a:t>
            </a:r>
            <a:r>
              <a:rPr lang="ru-RU" dirty="0" err="1"/>
              <a:t>проводилося</a:t>
            </a:r>
            <a:r>
              <a:rPr lang="ru-RU" dirty="0"/>
              <a:t> методом </a:t>
            </a:r>
            <a:r>
              <a:rPr lang="ru-RU" dirty="0" err="1"/>
              <a:t>лінійної</a:t>
            </a:r>
            <a:r>
              <a:rPr lang="ru-RU" dirty="0"/>
              <a:t> </a:t>
            </a:r>
            <a:r>
              <a:rPr lang="ru-RU" dirty="0" err="1"/>
              <a:t>адитивної</a:t>
            </a:r>
            <a:r>
              <a:rPr lang="ru-RU" dirty="0"/>
              <a:t> </a:t>
            </a:r>
            <a:r>
              <a:rPr lang="ru-RU" dirty="0" err="1"/>
              <a:t>згортки</a:t>
            </a:r>
            <a:r>
              <a:rPr lang="ru-RU" dirty="0"/>
              <a:t> з </a:t>
            </a:r>
            <a:r>
              <a:rPr lang="ru-RU" dirty="0" err="1"/>
              <a:t>ваговими</a:t>
            </a:r>
            <a:r>
              <a:rPr lang="ru-RU" dirty="0"/>
              <a:t> </a:t>
            </a:r>
            <a:r>
              <a:rPr lang="ru-RU" dirty="0" err="1"/>
              <a:t>коефіцієнтами</a:t>
            </a:r>
            <a:r>
              <a:rPr lang="ru-RU" dirty="0"/>
              <a:t>. Формула та </a:t>
            </a:r>
            <a:r>
              <a:rPr lang="ru-RU" dirty="0" err="1"/>
              <a:t>фінальні</a:t>
            </a:r>
            <a:r>
              <a:rPr lang="ru-RU" dirty="0"/>
              <a:t> </a:t>
            </a:r>
            <a:r>
              <a:rPr lang="ru-RU" dirty="0" err="1"/>
              <a:t>результати</a:t>
            </a:r>
            <a:r>
              <a:rPr lang="ru-RU" dirty="0"/>
              <a:t> </a:t>
            </a:r>
            <a:r>
              <a:rPr lang="ru-RU" dirty="0" err="1"/>
              <a:t>наведені</a:t>
            </a:r>
            <a:r>
              <a:rPr lang="ru-RU" dirty="0"/>
              <a:t> на </a:t>
            </a:r>
            <a:r>
              <a:rPr lang="ru-RU" dirty="0" err="1"/>
              <a:t>слайді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uk-UA" dirty="0"/>
              <a:t>Розрахунки показали, що найкращими варіантами є комбінації </a:t>
            </a:r>
            <a:r>
              <a:rPr lang="en-US" dirty="0"/>
              <a:t>MS SQL + MongoDB </a:t>
            </a:r>
            <a:r>
              <a:rPr lang="uk-UA" dirty="0"/>
              <a:t>та </a:t>
            </a:r>
            <a:r>
              <a:rPr lang="en-US" dirty="0"/>
              <a:t>MS SQL + Redis. </a:t>
            </a:r>
            <a:r>
              <a:rPr lang="uk-UA" dirty="0"/>
              <a:t>Вони забезпечують оптимальний баланс швидкодії, узгодженості та складності інтеграції. Саме ці дві архітектури були обрані для подальшої програмної реалізації та експериментального дослідження.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96E41-7251-4B5D-8218-E2A5ACFC76E1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07034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У якості предметної області обрано </a:t>
            </a:r>
            <a:r>
              <a:rPr lang="en-US" dirty="0"/>
              <a:t>B2B-</a:t>
            </a:r>
            <a:r>
              <a:rPr lang="uk-UA" dirty="0"/>
              <a:t>платформу з продажу програмного забезпечення. Цей вибір зумовлений тим, що каталог має складну, змінну структуру атрибутів, що ідеально підходить для тестування гетерогенних баз даних.</a:t>
            </a:r>
          </a:p>
          <a:p>
            <a:endParaRPr lang="uk-UA" dirty="0"/>
          </a:p>
          <a:p>
            <a:r>
              <a:rPr lang="ru-RU" dirty="0"/>
              <a:t>На </a:t>
            </a:r>
            <a:r>
              <a:rPr lang="ru-RU" dirty="0" err="1"/>
              <a:t>екрані</a:t>
            </a:r>
            <a:r>
              <a:rPr lang="ru-RU" dirty="0"/>
              <a:t> представлена ER-</a:t>
            </a:r>
            <a:r>
              <a:rPr lang="ru-RU" dirty="0" err="1"/>
              <a:t>діаграма</a:t>
            </a:r>
            <a:r>
              <a:rPr lang="ru-RU" dirty="0"/>
              <a:t> у </a:t>
            </a:r>
            <a:r>
              <a:rPr lang="ru-RU" dirty="0" err="1"/>
              <a:t>третій</a:t>
            </a:r>
            <a:r>
              <a:rPr lang="ru-RU" dirty="0"/>
              <a:t> </a:t>
            </a:r>
            <a:r>
              <a:rPr lang="ru-RU" dirty="0" err="1"/>
              <a:t>нормальній</a:t>
            </a:r>
            <a:r>
              <a:rPr lang="ru-RU" dirty="0"/>
              <a:t> </a:t>
            </a:r>
            <a:r>
              <a:rPr lang="ru-RU" dirty="0" err="1"/>
              <a:t>формі</a:t>
            </a:r>
            <a:r>
              <a:rPr lang="ru-RU" dirty="0"/>
              <a:t>. </a:t>
            </a:r>
            <a:r>
              <a:rPr lang="ru-RU" dirty="0" err="1"/>
              <a:t>Логічно</a:t>
            </a:r>
            <a:r>
              <a:rPr lang="ru-RU" dirty="0"/>
              <a:t>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розділити</a:t>
            </a:r>
            <a:r>
              <a:rPr lang="ru-RU" dirty="0"/>
              <a:t> на три </a:t>
            </a:r>
            <a:r>
              <a:rPr lang="ru-RU" dirty="0" err="1"/>
              <a:t>модулі</a:t>
            </a:r>
            <a:r>
              <a:rPr lang="ru-RU" dirty="0"/>
              <a:t>: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учасниками</a:t>
            </a:r>
            <a:r>
              <a:rPr lang="ru-RU" dirty="0"/>
              <a:t>, </a:t>
            </a:r>
            <a:r>
              <a:rPr lang="ru-RU" dirty="0" err="1"/>
              <a:t>обробка</a:t>
            </a:r>
            <a:r>
              <a:rPr lang="ru-RU" dirty="0"/>
              <a:t> </a:t>
            </a:r>
            <a:r>
              <a:rPr lang="ru-RU" dirty="0" err="1"/>
              <a:t>транзакційних</a:t>
            </a:r>
            <a:r>
              <a:rPr lang="ru-RU" dirty="0"/>
              <a:t> </a:t>
            </a:r>
            <a:r>
              <a:rPr lang="ru-RU" dirty="0" err="1"/>
              <a:t>замовлень</a:t>
            </a:r>
            <a:r>
              <a:rPr lang="ru-RU" dirty="0"/>
              <a:t> та, </a:t>
            </a:r>
            <a:r>
              <a:rPr lang="ru-RU" dirty="0" err="1"/>
              <a:t>власне</a:t>
            </a:r>
            <a:r>
              <a:rPr lang="ru-RU" dirty="0"/>
              <a:t>, складна </a:t>
            </a:r>
            <a:r>
              <a:rPr lang="ru-RU" dirty="0" err="1"/>
              <a:t>ієрархія</a:t>
            </a:r>
            <a:r>
              <a:rPr lang="ru-RU" dirty="0"/>
              <a:t> товарного каталогу з </a:t>
            </a:r>
            <a:r>
              <a:rPr lang="ru-RU" dirty="0" err="1"/>
              <a:t>ціноутворенням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96E41-7251-4B5D-8218-E2A5ACFC76E1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05475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Для цієї архітектури застосовано підхід </a:t>
            </a:r>
            <a:r>
              <a:rPr lang="en-US" dirty="0"/>
              <a:t>Polyglot Persistence. </a:t>
            </a:r>
            <a:r>
              <a:rPr lang="uk-UA" dirty="0"/>
              <a:t>Усі транзакційні дані залишаються у реляційній базі </a:t>
            </a:r>
            <a:r>
              <a:rPr lang="en-US" dirty="0"/>
              <a:t>MS SQL.</a:t>
            </a:r>
            <a:endParaRPr lang="uk-UA" dirty="0"/>
          </a:p>
          <a:p>
            <a:endParaRPr lang="uk-UA" dirty="0"/>
          </a:p>
          <a:p>
            <a:r>
              <a:rPr lang="uk-UA" dirty="0"/>
              <a:t>Каталог винесено у </a:t>
            </a:r>
            <a:r>
              <a:rPr lang="en-US" dirty="0"/>
              <a:t>MongoDB </a:t>
            </a:r>
            <a:r>
              <a:rPr lang="uk-UA" dirty="0"/>
              <a:t>із використанням </a:t>
            </a:r>
            <a:r>
              <a:rPr lang="uk-UA" dirty="0" err="1"/>
              <a:t>денормалізації</a:t>
            </a:r>
            <a:r>
              <a:rPr lang="uk-UA" dirty="0"/>
              <a:t>. Важливий момент: довідники вбудовуються в документ товару лише частково - рівно стільки, скільки необхідно для клієнтського відображення картки товару. Повні ж довідники зберігаються в окремих незалежних колекціях як "єдине джерело правди". Зв'язок між базами реалізується через збереження ідентифікатора документа у реляційній таблиці деталей замовлення.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96E41-7251-4B5D-8218-E2A5ACFC76E1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05086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У другій архітектурі </a:t>
            </a:r>
            <a:r>
              <a:rPr lang="en-US" dirty="0"/>
              <a:t>MS SQL </a:t>
            </a:r>
            <a:r>
              <a:rPr lang="uk-UA" dirty="0"/>
              <a:t>виступає єдиним джерелом істини, зберігаючи всі дані у третій нормальній формі, а </a:t>
            </a:r>
            <a:r>
              <a:rPr lang="en-US" dirty="0"/>
              <a:t>Redis </a:t>
            </a:r>
            <a:r>
              <a:rPr lang="uk-UA" dirty="0"/>
              <a:t>працює як високошвидкісний шар кешування.</a:t>
            </a:r>
          </a:p>
          <a:p>
            <a:endParaRPr lang="uk-UA" dirty="0"/>
          </a:p>
          <a:p>
            <a:r>
              <a:rPr lang="uk-UA" dirty="0"/>
              <a:t>Як видно на схемі, для уникнення важких </a:t>
            </a:r>
            <a:r>
              <a:rPr lang="en-US" dirty="0"/>
              <a:t>JOIN-</a:t>
            </a:r>
            <a:r>
              <a:rPr lang="uk-UA" dirty="0" err="1"/>
              <a:t>ів</a:t>
            </a:r>
            <a:r>
              <a:rPr lang="uk-UA" dirty="0"/>
              <a:t> при читанні каталогу, дані з реляційних таблиць </a:t>
            </a:r>
            <a:r>
              <a:rPr lang="uk-UA" dirty="0" err="1"/>
              <a:t>агрегуються</a:t>
            </a:r>
            <a:r>
              <a:rPr lang="uk-UA" dirty="0"/>
              <a:t> та </a:t>
            </a:r>
            <a:r>
              <a:rPr lang="uk-UA" dirty="0" err="1"/>
              <a:t>серіалізуються</a:t>
            </a:r>
            <a:r>
              <a:rPr lang="uk-UA" dirty="0"/>
              <a:t> у </a:t>
            </a:r>
            <a:r>
              <a:rPr lang="en-US" dirty="0"/>
              <a:t>JSON-</a:t>
            </a:r>
            <a:r>
              <a:rPr lang="uk-UA" dirty="0"/>
              <a:t>об'єкт в </a:t>
            </a:r>
            <a:r>
              <a:rPr lang="en-US" dirty="0"/>
              <a:t>Redis. </a:t>
            </a:r>
            <a:r>
              <a:rPr lang="uk-UA" dirty="0"/>
              <a:t>Доступ за ключем забезпечує швидкість О від одиниці. Для фільтрації та пошуку ми використовуємо модуль </a:t>
            </a:r>
            <a:r>
              <a:rPr lang="en-US" dirty="0" err="1"/>
              <a:t>RedisSearch</a:t>
            </a:r>
            <a:r>
              <a:rPr lang="en-US" dirty="0"/>
              <a:t>, </a:t>
            </a:r>
            <a:r>
              <a:rPr lang="uk-UA"/>
              <a:t>який автоматично будує інвертовані індекси безпосередньо в базі даних.</a:t>
            </a:r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96E41-7251-4B5D-8218-E2A5ACFC76E1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7312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</a:t>
            </a:r>
            <a:r>
              <a:rPr lang="ru-RU" dirty="0" err="1"/>
              <a:t>проведення</a:t>
            </a:r>
            <a:r>
              <a:rPr lang="ru-RU" dirty="0"/>
              <a:t> </a:t>
            </a:r>
            <a:r>
              <a:rPr lang="ru-RU" dirty="0" err="1"/>
              <a:t>досліджень</a:t>
            </a:r>
            <a:r>
              <a:rPr lang="ru-RU" dirty="0"/>
              <a:t> </a:t>
            </a:r>
            <a:r>
              <a:rPr lang="ru-RU" dirty="0" err="1"/>
              <a:t>розроблено</a:t>
            </a:r>
            <a:r>
              <a:rPr lang="ru-RU" dirty="0"/>
              <a:t> </a:t>
            </a:r>
            <a:r>
              <a:rPr lang="ru-RU" dirty="0" err="1"/>
              <a:t>програмну</a:t>
            </a:r>
            <a:r>
              <a:rPr lang="ru-RU" dirty="0"/>
              <a:t> систему на </a:t>
            </a:r>
            <a:r>
              <a:rPr lang="ru-RU" dirty="0" err="1"/>
              <a:t>базі</a:t>
            </a:r>
            <a:r>
              <a:rPr lang="ru-RU" dirty="0"/>
              <a:t> ASP.NET </a:t>
            </a:r>
            <a:r>
              <a:rPr lang="ru-RU" dirty="0" err="1"/>
              <a:t>Core</a:t>
            </a:r>
            <a:r>
              <a:rPr lang="ru-RU" dirty="0"/>
              <a:t> </a:t>
            </a:r>
            <a:r>
              <a:rPr lang="ru-RU" dirty="0" err="1"/>
              <a:t>Web</a:t>
            </a:r>
            <a:r>
              <a:rPr lang="ru-RU" dirty="0"/>
              <a:t> API. Головною метою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абсолютної</a:t>
            </a:r>
            <a:r>
              <a:rPr lang="ru-RU" dirty="0"/>
              <a:t> </a:t>
            </a:r>
            <a:r>
              <a:rPr lang="ru-RU" dirty="0" err="1"/>
              <a:t>чистоти</a:t>
            </a:r>
            <a:r>
              <a:rPr lang="ru-RU" dirty="0"/>
              <a:t> </a:t>
            </a:r>
            <a:r>
              <a:rPr lang="ru-RU" dirty="0" err="1"/>
              <a:t>експерименту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uk-UA" dirty="0"/>
              <a:t>Для цього застосовано </a:t>
            </a:r>
            <a:r>
              <a:rPr lang="uk-UA" dirty="0" err="1"/>
              <a:t>патерни</a:t>
            </a:r>
            <a:r>
              <a:rPr lang="uk-UA" dirty="0"/>
              <a:t> </a:t>
            </a:r>
            <a:r>
              <a:rPr lang="en-US" dirty="0"/>
              <a:t>Repository </a:t>
            </a:r>
            <a:r>
              <a:rPr lang="uk-UA" dirty="0"/>
              <a:t>та </a:t>
            </a:r>
            <a:r>
              <a:rPr lang="en-US" dirty="0"/>
              <a:t>Dependency Injection. </a:t>
            </a:r>
            <a:r>
              <a:rPr lang="uk-UA" dirty="0"/>
              <a:t>Бізнес-логіка та контролери працюють з абстрактними інтерфейсами, реалізація яких підміняється на рівні конфігурації: для одного тесту це репозиторії </a:t>
            </a:r>
            <a:r>
              <a:rPr lang="en-US" dirty="0"/>
              <a:t>MongoDB, </a:t>
            </a:r>
            <a:r>
              <a:rPr lang="uk-UA" dirty="0"/>
              <a:t>для іншого </a:t>
            </a:r>
            <a:r>
              <a:rPr lang="en-US" dirty="0"/>
              <a:t>Redis. </a:t>
            </a:r>
            <a:r>
              <a:rPr lang="uk-UA" dirty="0"/>
              <a:t>Такий підхід гарантує, що будь-яка різниця у часі відгуку зумовлена виключно роботою самих баз даних.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96E41-7251-4B5D-8218-E2A5ACFC76E1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62926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</a:t>
            </a:r>
            <a:r>
              <a:rPr lang="ru-RU" dirty="0" err="1"/>
              <a:t>об’єктивної</a:t>
            </a:r>
            <a:r>
              <a:rPr lang="ru-RU" dirty="0"/>
              <a:t> </a:t>
            </a:r>
            <a:r>
              <a:rPr lang="ru-RU" dirty="0" err="1"/>
              <a:t>оцінки</a:t>
            </a:r>
            <a:r>
              <a:rPr lang="ru-RU" dirty="0"/>
              <a:t> </a:t>
            </a:r>
            <a:r>
              <a:rPr lang="ru-RU" dirty="0" err="1"/>
              <a:t>обраних</a:t>
            </a:r>
            <a:r>
              <a:rPr lang="ru-RU" dirty="0"/>
              <a:t> архітектур </a:t>
            </a:r>
            <a:r>
              <a:rPr lang="ru-RU" dirty="0" err="1"/>
              <a:t>було</a:t>
            </a:r>
            <a:r>
              <a:rPr lang="ru-RU" dirty="0"/>
              <a:t> сформовано </a:t>
            </a:r>
            <a:r>
              <a:rPr lang="ru-RU" dirty="0" err="1"/>
              <a:t>комплексну</a:t>
            </a:r>
            <a:r>
              <a:rPr lang="ru-RU" dirty="0"/>
              <a:t> систему метрик.</a:t>
            </a:r>
            <a:br>
              <a:rPr lang="ru-RU" dirty="0"/>
            </a:br>
            <a:br>
              <a:rPr lang="ru-RU" dirty="0"/>
            </a:br>
            <a:r>
              <a:rPr lang="uk-UA" dirty="0"/>
              <a:t>З одного боку, для оцінки </a:t>
            </a:r>
            <a:r>
              <a:rPr lang="uk-UA" dirty="0" err="1"/>
              <a:t>продуктивністі</a:t>
            </a:r>
            <a:r>
              <a:rPr lang="uk-UA" dirty="0"/>
              <a:t>: вимірюється швидкість операцій читання і запису, пропускну здатність та час синхронізації між компонентами гетерогенної системи. </a:t>
            </a:r>
          </a:p>
          <a:p>
            <a:endParaRPr lang="uk-UA" dirty="0"/>
          </a:p>
          <a:p>
            <a:r>
              <a:rPr lang="uk-UA" dirty="0"/>
              <a:t>З іншого боку, аналізується використання апаратних ресурсів: завантаженість процесора, споживання оперативної пам'яті та обсяг дискового простору. </a:t>
            </a:r>
          </a:p>
          <a:p>
            <a:endParaRPr lang="uk-UA" dirty="0"/>
          </a:p>
          <a:p>
            <a:r>
              <a:rPr lang="uk-UA" dirty="0"/>
              <a:t>Тестування проводитиметься за трьома сценаріями навантаження: з перевагою читання, запису та у змішаному режимі.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96E41-7251-4B5D-8218-E2A5ACFC76E1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83916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</a:t>
            </a:r>
            <a:r>
              <a:rPr lang="ru-RU" dirty="0" err="1"/>
              <a:t>об'єктивного</a:t>
            </a:r>
            <a:r>
              <a:rPr lang="ru-RU" dirty="0"/>
              <a:t> </a:t>
            </a:r>
            <a:r>
              <a:rPr lang="ru-RU" dirty="0" err="1"/>
              <a:t>порівняння</a:t>
            </a:r>
            <a:r>
              <a:rPr lang="ru-RU" dirty="0"/>
              <a:t> </a:t>
            </a:r>
            <a:r>
              <a:rPr lang="ru-RU" dirty="0" err="1"/>
              <a:t>двох</a:t>
            </a:r>
            <a:r>
              <a:rPr lang="ru-RU" dirty="0"/>
              <a:t> </a:t>
            </a:r>
            <a:r>
              <a:rPr lang="ru-RU" dirty="0" err="1"/>
              <a:t>гетерогенних</a:t>
            </a:r>
            <a:r>
              <a:rPr lang="ru-RU" dirty="0"/>
              <a:t> архітектур ми </a:t>
            </a:r>
            <a:r>
              <a:rPr lang="ru-RU" dirty="0" err="1"/>
              <a:t>спроєктували</a:t>
            </a:r>
            <a:r>
              <a:rPr lang="ru-RU" dirty="0"/>
              <a:t> </a:t>
            </a:r>
            <a:r>
              <a:rPr lang="ru-RU" dirty="0" err="1"/>
              <a:t>п'ять</a:t>
            </a:r>
            <a:r>
              <a:rPr lang="ru-RU" dirty="0"/>
              <a:t> </a:t>
            </a:r>
            <a:r>
              <a:rPr lang="ru-RU" dirty="0" err="1"/>
              <a:t>базових</a:t>
            </a:r>
            <a:r>
              <a:rPr lang="ru-RU" dirty="0"/>
              <a:t> </a:t>
            </a:r>
            <a:r>
              <a:rPr lang="ru-RU" dirty="0" err="1"/>
              <a:t>типів</a:t>
            </a:r>
            <a:r>
              <a:rPr lang="ru-RU" dirty="0"/>
              <a:t> </a:t>
            </a:r>
            <a:r>
              <a:rPr lang="ru-RU" dirty="0" err="1"/>
              <a:t>запитів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покривають</a:t>
            </a:r>
            <a:r>
              <a:rPr lang="ru-RU" dirty="0"/>
              <a:t> весь </a:t>
            </a:r>
            <a:r>
              <a:rPr lang="ru-RU" dirty="0" err="1"/>
              <a:t>життєвий</a:t>
            </a:r>
            <a:r>
              <a:rPr lang="ru-RU" dirty="0"/>
              <a:t> цикл каталогу в системах </a:t>
            </a:r>
            <a:r>
              <a:rPr lang="ru-RU" dirty="0" err="1"/>
              <a:t>електронної</a:t>
            </a:r>
            <a:r>
              <a:rPr lang="ru-RU" dirty="0"/>
              <a:t> </a:t>
            </a:r>
            <a:r>
              <a:rPr lang="ru-RU" dirty="0" err="1"/>
              <a:t>комерції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uk-UA" dirty="0"/>
              <a:t>Перша група - це операції читання. Оскільки на них припадає більшість трафіку, ми тестуємо як швидкий доступ за ідентифікатором, так і багатокритеріальний пошук, де змагаються інвертовані індекси </a:t>
            </a:r>
            <a:r>
              <a:rPr lang="en-US" dirty="0"/>
              <a:t>Redis </a:t>
            </a:r>
            <a:r>
              <a:rPr lang="uk-UA" dirty="0"/>
              <a:t>та </a:t>
            </a:r>
            <a:r>
              <a:rPr lang="en-US" dirty="0"/>
              <a:t>BSON-</a:t>
            </a:r>
            <a:r>
              <a:rPr lang="uk-UA" dirty="0"/>
              <a:t>фільтри </a:t>
            </a:r>
            <a:r>
              <a:rPr lang="en-US" dirty="0"/>
              <a:t>MongoDB.</a:t>
            </a:r>
            <a:endParaRPr lang="uk-UA" dirty="0"/>
          </a:p>
          <a:p>
            <a:endParaRPr lang="uk-UA" dirty="0"/>
          </a:p>
          <a:p>
            <a:r>
              <a:rPr lang="ru-RU" dirty="0"/>
              <a:t>Друга </a:t>
            </a:r>
            <a:r>
              <a:rPr lang="ru-RU" dirty="0" err="1"/>
              <a:t>група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 </a:t>
            </a:r>
            <a:r>
              <a:rPr lang="ru-RU" dirty="0" err="1"/>
              <a:t>запису</a:t>
            </a:r>
            <a:r>
              <a:rPr lang="ru-RU" dirty="0"/>
              <a:t>: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товарів</a:t>
            </a:r>
            <a:r>
              <a:rPr lang="ru-RU" dirty="0"/>
              <a:t> та </a:t>
            </a:r>
            <a:r>
              <a:rPr lang="ru-RU" dirty="0" err="1"/>
              <a:t>часткове</a:t>
            </a:r>
            <a:r>
              <a:rPr lang="ru-RU" dirty="0"/>
              <a:t> </a:t>
            </a:r>
            <a:r>
              <a:rPr lang="ru-RU" dirty="0" err="1"/>
              <a:t>оновлення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атрибутів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/>
              <a:t>атомарних</a:t>
            </a:r>
            <a:r>
              <a:rPr lang="ru-RU" dirty="0"/>
              <a:t> </a:t>
            </a:r>
            <a:r>
              <a:rPr lang="ru-RU" dirty="0" err="1"/>
              <a:t>операцій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uk-UA" dirty="0"/>
              <a:t>Окрему увагу варто приділити </a:t>
            </a:r>
            <a:r>
              <a:rPr lang="en-US" dirty="0"/>
              <a:t>Eventual Consistency. </a:t>
            </a:r>
            <a:r>
              <a:rPr lang="uk-UA" dirty="0"/>
              <a:t>При оновленні довідників система генерує події, а фонові сервіси виконують каскадне оновлення </a:t>
            </a:r>
            <a:r>
              <a:rPr lang="uk-UA" dirty="0" err="1"/>
              <a:t>денормалізованих</a:t>
            </a:r>
            <a:r>
              <a:rPr lang="uk-UA" dirty="0"/>
              <a:t> даних: у </a:t>
            </a:r>
            <a:r>
              <a:rPr lang="en-US" dirty="0"/>
              <a:t>MongoDB </a:t>
            </a:r>
            <a:r>
              <a:rPr lang="uk-UA" dirty="0"/>
              <a:t>через фонове сканування, а в </a:t>
            </a:r>
            <a:r>
              <a:rPr lang="en-US" dirty="0"/>
              <a:t>Redis </a:t>
            </a:r>
            <a:r>
              <a:rPr lang="uk-UA" dirty="0"/>
              <a:t>-</a:t>
            </a:r>
            <a:r>
              <a:rPr lang="en-US" dirty="0"/>
              <a:t> </a:t>
            </a:r>
            <a:r>
              <a:rPr lang="uk-UA" dirty="0" err="1"/>
              <a:t>точково</a:t>
            </a:r>
            <a:r>
              <a:rPr lang="uk-UA" dirty="0"/>
              <a:t>, за допомогою пошуку по індексу. Ці базові запити надалі комбінуватимуться у цільові тестові сценарії.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96E41-7251-4B5D-8218-E2A5ACFC76E1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05322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Наступним кроком стала організація інфраструктури для навантажувального тестування. Щоб експеримент був об'єктивним, ми розробили спеціальний застосунок на базі бібліотеки </a:t>
            </a:r>
            <a:r>
              <a:rPr lang="en-US" dirty="0"/>
              <a:t>Bogus, </a:t>
            </a:r>
            <a:r>
              <a:rPr lang="uk-UA" dirty="0"/>
              <a:t>який наповнив обидві архітектури реалістичними обсягами синтетичних даних, дотримуючись реляційної ієрархії та логіки </a:t>
            </a:r>
            <a:r>
              <a:rPr lang="uk-UA" dirty="0" err="1"/>
              <a:t>денормалізації</a:t>
            </a:r>
            <a:r>
              <a:rPr lang="uk-UA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uk-U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Самі тести виконувалися за допомогою фреймворку </a:t>
            </a:r>
            <a:r>
              <a:rPr lang="en-US" dirty="0" err="1"/>
              <a:t>NBomber</a:t>
            </a:r>
            <a:r>
              <a:rPr lang="en-US" dirty="0"/>
              <a:t>. </a:t>
            </a:r>
            <a:r>
              <a:rPr lang="uk-UA" dirty="0"/>
              <a:t>Критично важливим елементом тут став генератор динамічного корисного навантаження. Він гарантує, що кожен </a:t>
            </a:r>
            <a:r>
              <a:rPr lang="en-US" dirty="0"/>
              <a:t>HTTP-</a:t>
            </a:r>
            <a:r>
              <a:rPr lang="uk-UA" dirty="0"/>
              <a:t>запит має унікальні параметри або тіло, що унеможливлює штучне кешування на рівні СКБД та показує реальну швидкодію. Кожен сценарій включав фазу розігріву для стабілізації системи.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uk-U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Для збору телеметрії, включно з апаратними метриками контейнерів та специфічними метриками баз даних, ми розгорнули стек </a:t>
            </a:r>
            <a:r>
              <a:rPr lang="en-US" dirty="0"/>
              <a:t>Prometheus </a:t>
            </a:r>
            <a:r>
              <a:rPr lang="uk-UA" dirty="0"/>
              <a:t>та </a:t>
            </a:r>
            <a:r>
              <a:rPr lang="en-US" dirty="0"/>
              <a:t>Grafana. </a:t>
            </a:r>
            <a:r>
              <a:rPr lang="uk-UA" dirty="0"/>
              <a:t>Ми створили кастомні </a:t>
            </a:r>
            <a:r>
              <a:rPr lang="uk-UA" dirty="0" err="1"/>
              <a:t>дашборди</a:t>
            </a:r>
            <a:r>
              <a:rPr lang="uk-UA" dirty="0"/>
              <a:t> з використанням часового зміщення у </a:t>
            </a:r>
            <a:r>
              <a:rPr lang="en-US" dirty="0" err="1"/>
              <a:t>PromQL</a:t>
            </a:r>
            <a:r>
              <a:rPr lang="en-US" dirty="0"/>
              <a:t>, </a:t>
            </a:r>
            <a:r>
              <a:rPr lang="uk-UA" dirty="0"/>
              <a:t>що дозволило наочно порівняти використання ресурсів різними </a:t>
            </a:r>
            <a:r>
              <a:rPr lang="uk-UA" dirty="0" err="1"/>
              <a:t>архітектурами</a:t>
            </a:r>
            <a:r>
              <a:rPr lang="uk-UA" dirty="0"/>
              <a:t> на одному графіку під час ідентичних тестів.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uk-U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19946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отримання об'єктивних метрик було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розробилено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чітку методологію. Як видно з блок-схеми, для кожного сценарію бази даних повністю очищувались, генерувався новий масив даних, 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Docker-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 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перезапускався. Це гарантувало чистоту експерименту. </a:t>
            </a:r>
          </a:p>
          <a:p>
            <a:endParaRPr lang="uk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СКБД були встановлені ліміти: 4 ядра процесора та 4 ГБ пам'яті. Тестування проводилось на трьох вибірках: від однієї до ста тисяч товарів. Щоб краще проілюструвати поведінку архітектур під навантаженням, на всіх подальших слайдах ми розглядатимемо результати саме для найважчої вибірки у 100 тисяч продуктів.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96E41-7251-4B5D-8218-E2A5ACFC76E1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19746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96E41-7251-4B5D-8218-E2A5ACFC76E1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04462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96E41-7251-4B5D-8218-E2A5ACFC76E1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703968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96E41-7251-4B5D-8218-E2A5ACFC76E1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857483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96E41-7251-4B5D-8218-E2A5ACFC76E1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827081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96E41-7251-4B5D-8218-E2A5ACFC76E1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042853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Результати дослідження підтвердили, що універсальної архітектури не існує — вибір залежить від профілю навантаження вашого проєкту.</a:t>
            </a:r>
          </a:p>
          <a:p>
            <a:endParaRPr lang="uk-UA" dirty="0"/>
          </a:p>
          <a:p>
            <a:r>
              <a:rPr lang="uk-UA" dirty="0"/>
              <a:t>Для систем з величезним трафіком на читання, де кожна </a:t>
            </a:r>
            <a:r>
              <a:rPr lang="uk-UA" dirty="0" err="1"/>
              <a:t>мілісекунда</a:t>
            </a:r>
            <a:r>
              <a:rPr lang="uk-UA" dirty="0"/>
              <a:t> затримки критична, ми рекомендуємо зв’язку </a:t>
            </a:r>
            <a:r>
              <a:rPr lang="en-US" dirty="0"/>
              <a:t>MSSQL </a:t>
            </a:r>
            <a:r>
              <a:rPr lang="uk-UA" dirty="0"/>
              <a:t>та </a:t>
            </a:r>
            <a:r>
              <a:rPr lang="en-US" dirty="0"/>
              <a:t>Redis. </a:t>
            </a:r>
            <a:r>
              <a:rPr lang="uk-UA" dirty="0"/>
              <a:t>Вона гарантує максимальну швидкість пошуку, хоча й потребує значних ресурсів пам’яті.</a:t>
            </a:r>
          </a:p>
          <a:p>
            <a:endParaRPr lang="uk-UA" dirty="0"/>
          </a:p>
          <a:p>
            <a:r>
              <a:rPr lang="uk-UA" dirty="0"/>
              <a:t>Якщо ж платформа орієнтована на </a:t>
            </a:r>
            <a:r>
              <a:rPr lang="en-US" dirty="0"/>
              <a:t>B2B-</a:t>
            </a:r>
            <a:r>
              <a:rPr lang="uk-UA" dirty="0"/>
              <a:t>сегмент із частими оновленнями товарів, кращим вибором є </a:t>
            </a:r>
            <a:r>
              <a:rPr lang="en-US" dirty="0"/>
              <a:t>MSSQL </a:t>
            </a:r>
            <a:r>
              <a:rPr lang="uk-UA" dirty="0"/>
              <a:t>та </a:t>
            </a:r>
            <a:r>
              <a:rPr lang="en-US" dirty="0"/>
              <a:t>MongoDB. </a:t>
            </a:r>
            <a:r>
              <a:rPr lang="uk-UA" dirty="0"/>
              <a:t>Ця архітектура стабільніша під змішаним навантаженням та дозволяє суттєво економити дисковий простір.</a:t>
            </a:r>
          </a:p>
          <a:p>
            <a:endParaRPr lang="uk-UA" dirty="0"/>
          </a:p>
          <a:p>
            <a:r>
              <a:rPr lang="uk-UA" dirty="0"/>
              <a:t>Надійність обох рішень забезпечується </a:t>
            </a:r>
            <a:r>
              <a:rPr lang="uk-UA" dirty="0" err="1"/>
              <a:t>патерном</a:t>
            </a:r>
            <a:r>
              <a:rPr lang="uk-UA" dirty="0"/>
              <a:t> </a:t>
            </a:r>
            <a:r>
              <a:rPr lang="en-US" dirty="0"/>
              <a:t>Eventual Consistency. </a:t>
            </a:r>
            <a:r>
              <a:rPr lang="uk-UA" dirty="0"/>
              <a:t>Досягнутий рівень цілісності даних у "чотири дев'ятки" доводить, що асинхронна синхронізація є ідеальним та безпечним рішенням для сучасного </a:t>
            </a:r>
            <a:r>
              <a:rPr lang="en-US" dirty="0"/>
              <a:t>E-commerce</a:t>
            </a:r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96E41-7251-4B5D-8218-E2A5ACFC76E1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495170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96E41-7251-4B5D-8218-E2A5ACFC76E1}" type="slidenum">
              <a:rPr lang="uk-UA" smtClean="0"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452480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Підсумовуючи результати роботи, успішно </a:t>
            </a:r>
            <a:r>
              <a:rPr lang="uk-UA" dirty="0" err="1"/>
              <a:t>вирішиено</a:t>
            </a:r>
            <a:r>
              <a:rPr lang="uk-UA" dirty="0"/>
              <a:t> завдання підвищення ефективності каталогів товарів, інтегрувавши традиційні реляційні та </a:t>
            </a:r>
            <a:r>
              <a:rPr lang="en-US" dirty="0"/>
              <a:t>NoSQL </a:t>
            </a:r>
            <a:r>
              <a:rPr lang="uk-UA" dirty="0"/>
              <a:t>бази даних. Усі розроблені концептуальні моделі були </a:t>
            </a:r>
            <a:r>
              <a:rPr lang="uk-UA" dirty="0" err="1"/>
              <a:t>імплементовані</a:t>
            </a:r>
            <a:r>
              <a:rPr lang="uk-UA" dirty="0"/>
              <a:t> на платформі .</a:t>
            </a:r>
            <a:r>
              <a:rPr lang="en-US" dirty="0"/>
              <a:t>NET </a:t>
            </a:r>
            <a:r>
              <a:rPr lang="uk-UA" dirty="0"/>
              <a:t>з дотриманням принципів </a:t>
            </a:r>
            <a:r>
              <a:rPr lang="en-US" dirty="0"/>
              <a:t>Clean Architecture.</a:t>
            </a:r>
            <a:endParaRPr lang="uk-UA" dirty="0"/>
          </a:p>
          <a:p>
            <a:endParaRPr lang="uk-UA" dirty="0"/>
          </a:p>
          <a:p>
            <a:r>
              <a:rPr lang="uk-UA" dirty="0"/>
              <a:t>Комплексне експериментальне дослідження довело, що використання гетерогенних архітектур повністю виправдовує себе на практиці. Ми практично підтвердили, що рішення на базі </a:t>
            </a:r>
            <a:r>
              <a:rPr lang="en-US" dirty="0"/>
              <a:t>Redis </a:t>
            </a:r>
            <a:r>
              <a:rPr lang="uk-UA" dirty="0"/>
              <a:t>має значну перевагу у швидкості обробки запитів, тоді як </a:t>
            </a:r>
            <a:r>
              <a:rPr lang="en-US" dirty="0"/>
              <a:t>MongoDB </a:t>
            </a:r>
            <a:r>
              <a:rPr lang="uk-UA" dirty="0"/>
              <a:t>демонструє кращу стабільність при конкурентних навантаженнях. Також доведено, що патерн </a:t>
            </a:r>
            <a:r>
              <a:rPr lang="en-US" dirty="0"/>
              <a:t>Eventual Consistency </a:t>
            </a:r>
            <a:r>
              <a:rPr lang="uk-UA" dirty="0"/>
              <a:t>гарантує надійну синхронізацію даних.</a:t>
            </a:r>
          </a:p>
          <a:p>
            <a:endParaRPr lang="uk-UA" dirty="0"/>
          </a:p>
          <a:p>
            <a:r>
              <a:rPr lang="ru-RU" dirty="0" err="1"/>
              <a:t>Наукову</a:t>
            </a:r>
            <a:r>
              <a:rPr lang="ru-RU" dirty="0"/>
              <a:t> </a:t>
            </a:r>
            <a:r>
              <a:rPr lang="ru-RU" dirty="0" err="1"/>
              <a:t>цінність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підтверджують</a:t>
            </a:r>
            <a:r>
              <a:rPr lang="ru-RU" dirty="0"/>
              <a:t> </a:t>
            </a:r>
            <a:r>
              <a:rPr lang="ru-RU" dirty="0" err="1"/>
              <a:t>опубліковані</a:t>
            </a:r>
            <a:r>
              <a:rPr lang="ru-RU" dirty="0"/>
              <a:t> </a:t>
            </a:r>
            <a:r>
              <a:rPr lang="ru-RU" dirty="0" err="1"/>
              <a:t>тези</a:t>
            </a:r>
            <a:r>
              <a:rPr lang="ru-RU" dirty="0"/>
              <a:t> на </a:t>
            </a:r>
            <a:r>
              <a:rPr lang="ru-RU" dirty="0" err="1"/>
              <a:t>конференції</a:t>
            </a:r>
            <a:r>
              <a:rPr lang="ru-RU" dirty="0"/>
              <a:t> та подана </a:t>
            </a:r>
            <a:r>
              <a:rPr lang="ru-RU" dirty="0" err="1"/>
              <a:t>стаття</a:t>
            </a:r>
            <a:r>
              <a:rPr lang="ru-RU" dirty="0"/>
              <a:t> до журналу </a:t>
            </a:r>
            <a:r>
              <a:rPr lang="ru-RU" dirty="0" err="1"/>
              <a:t>категорії</a:t>
            </a:r>
            <a:r>
              <a:rPr lang="ru-RU" dirty="0"/>
              <a:t> «А». </a:t>
            </a:r>
            <a:r>
              <a:rPr lang="ru-RU" dirty="0" err="1"/>
              <a:t>Дякую</a:t>
            </a:r>
            <a:r>
              <a:rPr lang="ru-RU" dirty="0"/>
              <a:t> за </a:t>
            </a:r>
            <a:r>
              <a:rPr lang="ru-RU" dirty="0" err="1"/>
              <a:t>увагу</a:t>
            </a:r>
            <a:r>
              <a:rPr lang="ru-RU" dirty="0"/>
              <a:t>, </a:t>
            </a:r>
            <a:r>
              <a:rPr lang="ru-RU" dirty="0" err="1"/>
              <a:t>доповідь</a:t>
            </a:r>
            <a:r>
              <a:rPr lang="ru-RU" dirty="0"/>
              <a:t> завершено,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задоволенням</a:t>
            </a:r>
            <a:r>
              <a:rPr lang="ru-RU" dirty="0"/>
              <a:t> </a:t>
            </a:r>
            <a:r>
              <a:rPr lang="ru-RU" dirty="0" err="1"/>
              <a:t>відповім</a:t>
            </a:r>
            <a:r>
              <a:rPr lang="ru-RU" dirty="0"/>
              <a:t> на </a:t>
            </a:r>
            <a:r>
              <a:rPr lang="ru-RU" dirty="0" err="1"/>
              <a:t>ваші</a:t>
            </a:r>
            <a:r>
              <a:rPr lang="ru-RU" dirty="0"/>
              <a:t> </a:t>
            </a:r>
            <a:r>
              <a:rPr lang="ru-RU" dirty="0" err="1"/>
              <a:t>запитання</a:t>
            </a:r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96E41-7251-4B5D-8218-E2A5ACFC76E1}" type="slidenum">
              <a:rPr lang="uk-UA" smtClean="0"/>
              <a:t>21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56113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658685" y="1008934"/>
            <a:ext cx="1442167" cy="1499933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7091134" y="4355634"/>
            <a:ext cx="1442167" cy="1499933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059600" y="1925673"/>
            <a:ext cx="40728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059600" y="4155440"/>
            <a:ext cx="4072800" cy="9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EE3DE63-834F-4CB7-8C09-CE843796DF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66674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‹#›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2644362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53332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443200" y="1633633"/>
            <a:ext cx="53332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EE3DE63-834F-4CB7-8C09-CE843796DF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27664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EE3DE63-834F-4CB7-8C09-CE843796DF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9531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15600" y="1865867"/>
            <a:ext cx="3744000" cy="37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EE3DE63-834F-4CB7-8C09-CE843796DF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87205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838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EE3DE63-834F-4CB7-8C09-CE843796DF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16076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43" name="Google Shape;43;p9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354000" y="1239033"/>
            <a:ext cx="5393600" cy="23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354000" y="3692001"/>
            <a:ext cx="53936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EEE3DE63-834F-4CB7-8C09-CE843796DF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02570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426000" y="562523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EE3DE63-834F-4CB7-8C09-CE843796DF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62357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276167"/>
            <a:ext cx="11360800" cy="28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415600" y="4216000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EE3DE63-834F-4CB7-8C09-CE843796DF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541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EE3DE63-834F-4CB7-8C09-CE843796DF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73627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fld id="{EEE3DE63-834F-4CB7-8C09-CE843796DF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220754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42AAAF72-7202-4B6D-8AC9-8E5D4E57C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63817D-654D-4D40-B542-4A923FD1FD7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3998" y="3429000"/>
            <a:ext cx="9144001" cy="1828801"/>
          </a:xfrm>
        </p:spPr>
        <p:txBody>
          <a:bodyPr lIns="360000" tIns="360000" rIns="360000" bIns="360000" anchor="ctr" anchorCtr="0">
            <a:noAutofit/>
          </a:bodyPr>
          <a:lstStyle/>
          <a:p>
            <a:pPr marL="114300" indent="0">
              <a:buNone/>
            </a:pP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Звєгінцев Артем Вікторович, ІПЗМ-24-3</a:t>
            </a:r>
          </a:p>
          <a:p>
            <a:pPr marL="114300" indent="0">
              <a:buNone/>
            </a:pP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Науковий керівник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к.т.н., доц. Мазурова О.О.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F894DF-2C44-4603-B5C7-A51A063E3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3999" y="1122362"/>
            <a:ext cx="9144001" cy="2306638"/>
          </a:xfrm>
        </p:spPr>
        <p:txBody>
          <a:bodyPr lIns="360000" tIns="360000" rIns="360000" bIns="360000" anchor="ctr" anchorCtr="0">
            <a:normAutofit/>
          </a:bodyPr>
          <a:lstStyle/>
          <a:p>
            <a:pPr algn="ctr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підходів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організації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гетерогенних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баз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NoSQL-систем для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оптимізації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каталогів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товарів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системах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електронної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комерції</a:t>
            </a:r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оловина рамки 5">
            <a:extLst>
              <a:ext uri="{FF2B5EF4-FFF2-40B4-BE49-F238E27FC236}">
                <a16:creationId xmlns:a16="http://schemas.microsoft.com/office/drawing/2014/main" id="{61804FE1-6AEA-4D80-B658-5DFE08C3A1F4}"/>
              </a:ext>
            </a:extLst>
          </p:cNvPr>
          <p:cNvSpPr/>
          <p:nvPr/>
        </p:nvSpPr>
        <p:spPr>
          <a:xfrm>
            <a:off x="1523999" y="1122362"/>
            <a:ext cx="1440000" cy="1440000"/>
          </a:xfrm>
          <a:prstGeom prst="halfFrame">
            <a:avLst>
              <a:gd name="adj1" fmla="val 5127"/>
              <a:gd name="adj2" fmla="val 497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7" name="Половина рамки 6">
            <a:extLst>
              <a:ext uri="{FF2B5EF4-FFF2-40B4-BE49-F238E27FC236}">
                <a16:creationId xmlns:a16="http://schemas.microsoft.com/office/drawing/2014/main" id="{6BCF8738-BF1D-4AD2-B9CC-AD28AE89E603}"/>
              </a:ext>
            </a:extLst>
          </p:cNvPr>
          <p:cNvSpPr/>
          <p:nvPr/>
        </p:nvSpPr>
        <p:spPr>
          <a:xfrm rot="10800000">
            <a:off x="9227999" y="3817800"/>
            <a:ext cx="1440000" cy="1440000"/>
          </a:xfrm>
          <a:prstGeom prst="halfFrame">
            <a:avLst>
              <a:gd name="adj1" fmla="val 5127"/>
              <a:gd name="adj2" fmla="val 497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pic>
        <p:nvPicPr>
          <p:cNvPr id="8" name="Google Shape;66;p13">
            <a:extLst>
              <a:ext uri="{FF2B5EF4-FFF2-40B4-BE49-F238E27FC236}">
                <a16:creationId xmlns:a16="http://schemas.microsoft.com/office/drawing/2014/main" id="{07A7ADA7-84F7-42A5-88F0-97ACF39D224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05539" y="355720"/>
            <a:ext cx="1924921" cy="43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5;p13">
            <a:extLst>
              <a:ext uri="{FF2B5EF4-FFF2-40B4-BE49-F238E27FC236}">
                <a16:creationId xmlns:a16="http://schemas.microsoft.com/office/drawing/2014/main" id="{4850B68B-F634-4288-977C-5F7C9CCF736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012" y="383469"/>
            <a:ext cx="2133975" cy="389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0674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415600" y="0"/>
            <a:ext cx="11360800" cy="110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r>
              <a:rPr lang="uk" sz="4000" dirty="0">
                <a:latin typeface="Open Sans"/>
                <a:cs typeface="Times New Roman" panose="02020603050405020304" pitchFamily="18" charset="0"/>
              </a:rPr>
              <a:t>Актуальність</a:t>
            </a:r>
            <a:r>
              <a:rPr lang="uk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" sz="4000" dirty="0">
                <a:latin typeface="Open Sans"/>
                <a:cs typeface="Times New Roman" panose="02020603050405020304" pitchFamily="18" charset="0"/>
              </a:rPr>
              <a:t>дослідження</a:t>
            </a:r>
            <a:endParaRPr sz="4000" dirty="0">
              <a:latin typeface="Open Sans"/>
              <a:cs typeface="Times New Roman" panose="02020603050405020304" pitchFamily="18" charset="0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415600" y="1193000"/>
            <a:ext cx="11360800" cy="447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 marL="380990" indent="-380990">
              <a:spcBef>
                <a:spcPts val="1600"/>
              </a:spcBef>
              <a:spcAft>
                <a:spcPts val="1600"/>
              </a:spcAft>
              <a:buFontTx/>
              <a:buChar char="-"/>
            </a:pPr>
            <a:r>
              <a:rPr lang="uk-UA" dirty="0">
                <a:cs typeface="Times New Roman" panose="02020603050405020304" pitchFamily="18" charset="0"/>
              </a:rPr>
              <a:t>Каталог товарів - це ключовий елемент </a:t>
            </a:r>
            <a:r>
              <a:rPr lang="en-US" dirty="0">
                <a:cs typeface="Times New Roman" panose="02020603050405020304" pitchFamily="18" charset="0"/>
              </a:rPr>
              <a:t>e-commerce, </a:t>
            </a:r>
            <a:r>
              <a:rPr lang="uk-UA" dirty="0">
                <a:cs typeface="Times New Roman" panose="02020603050405020304" pitchFamily="18" charset="0"/>
              </a:rPr>
              <a:t>що визначає швидкодію та зручність системи</a:t>
            </a:r>
            <a:r>
              <a:rPr lang="uk-UA" noProof="0" dirty="0">
                <a:cs typeface="Times New Roman" panose="02020603050405020304" pitchFamily="18" charset="0"/>
              </a:rPr>
              <a:t>;</a:t>
            </a:r>
          </a:p>
          <a:p>
            <a:pPr marL="380990" indent="-380990">
              <a:spcBef>
                <a:spcPts val="1600"/>
              </a:spcBef>
              <a:spcAft>
                <a:spcPts val="1600"/>
              </a:spcAft>
              <a:buFontTx/>
              <a:buChar char="-"/>
            </a:pPr>
            <a:r>
              <a:rPr lang="uk-UA" dirty="0">
                <a:cs typeface="Times New Roman" panose="02020603050405020304" pitchFamily="18" charset="0"/>
              </a:rPr>
              <a:t>Реляційні СКБД гарантують високий рівень узгодженості, але мають обмеження продуктивності при масштабуванні;</a:t>
            </a:r>
            <a:endParaRPr lang="uk-UA" noProof="0" dirty="0">
              <a:cs typeface="Times New Roman" panose="02020603050405020304" pitchFamily="18" charset="0"/>
            </a:endParaRPr>
          </a:p>
          <a:p>
            <a:pPr marL="380990" indent="-380990">
              <a:spcBef>
                <a:spcPts val="1600"/>
              </a:spcBef>
              <a:spcAft>
                <a:spcPts val="1600"/>
              </a:spcAft>
              <a:buFontTx/>
              <a:buChar char="-"/>
            </a:pPr>
            <a:r>
              <a:rPr lang="ru-RU" dirty="0">
                <a:cs typeface="Times New Roman" panose="02020603050405020304" pitchFamily="18" charset="0"/>
              </a:rPr>
              <a:t>NoSQL </a:t>
            </a:r>
            <a:r>
              <a:rPr lang="ru-RU" dirty="0" err="1">
                <a:cs typeface="Times New Roman" panose="02020603050405020304" pitchFamily="18" charset="0"/>
              </a:rPr>
              <a:t>системи</a:t>
            </a:r>
            <a:r>
              <a:rPr lang="ru-RU" dirty="0">
                <a:cs typeface="Times New Roman" panose="02020603050405020304" pitchFamily="18" charset="0"/>
              </a:rPr>
              <a:t> </a:t>
            </a:r>
            <a:r>
              <a:rPr lang="ru-RU" dirty="0" err="1">
                <a:cs typeface="Times New Roman" panose="02020603050405020304" pitchFamily="18" charset="0"/>
              </a:rPr>
              <a:t>краще</a:t>
            </a:r>
            <a:r>
              <a:rPr lang="ru-RU" dirty="0">
                <a:cs typeface="Times New Roman" panose="02020603050405020304" pitchFamily="18" charset="0"/>
              </a:rPr>
              <a:t> </a:t>
            </a:r>
            <a:r>
              <a:rPr lang="ru-RU" dirty="0" err="1">
                <a:cs typeface="Times New Roman" panose="02020603050405020304" pitchFamily="18" charset="0"/>
              </a:rPr>
              <a:t>масштабуються</a:t>
            </a:r>
            <a:r>
              <a:rPr lang="ru-RU" dirty="0">
                <a:cs typeface="Times New Roman" panose="02020603050405020304" pitchFamily="18" charset="0"/>
              </a:rPr>
              <a:t>, </a:t>
            </a:r>
            <a:r>
              <a:rPr lang="ru-RU" dirty="0" err="1">
                <a:cs typeface="Times New Roman" panose="02020603050405020304" pitchFamily="18" charset="0"/>
              </a:rPr>
              <a:t>проте</a:t>
            </a:r>
            <a:r>
              <a:rPr lang="ru-RU" dirty="0">
                <a:cs typeface="Times New Roman" panose="02020603050405020304" pitchFamily="18" charset="0"/>
              </a:rPr>
              <a:t> </a:t>
            </a:r>
            <a:r>
              <a:rPr lang="ru-RU" dirty="0" err="1">
                <a:cs typeface="Times New Roman" panose="02020603050405020304" pitchFamily="18" charset="0"/>
              </a:rPr>
              <a:t>можуть</a:t>
            </a:r>
            <a:r>
              <a:rPr lang="ru-RU" dirty="0">
                <a:cs typeface="Times New Roman" panose="02020603050405020304" pitchFamily="18" charset="0"/>
              </a:rPr>
              <a:t> </a:t>
            </a:r>
            <a:r>
              <a:rPr lang="ru-RU" dirty="0" err="1">
                <a:cs typeface="Times New Roman" panose="02020603050405020304" pitchFamily="18" charset="0"/>
              </a:rPr>
              <a:t>поступатися</a:t>
            </a:r>
            <a:r>
              <a:rPr lang="ru-RU" dirty="0">
                <a:cs typeface="Times New Roman" panose="02020603050405020304" pitchFamily="18" charset="0"/>
              </a:rPr>
              <a:t> у </a:t>
            </a:r>
            <a:r>
              <a:rPr lang="ru-RU" dirty="0" err="1">
                <a:cs typeface="Times New Roman" panose="02020603050405020304" pitchFamily="18" charset="0"/>
              </a:rPr>
              <a:t>забезпеченні</a:t>
            </a:r>
            <a:r>
              <a:rPr lang="ru-RU" dirty="0">
                <a:cs typeface="Times New Roman" panose="02020603050405020304" pitchFamily="18" charset="0"/>
              </a:rPr>
              <a:t> транзакційності</a:t>
            </a:r>
            <a:r>
              <a:rPr lang="uk-UA" dirty="0">
                <a:solidFill>
                  <a:schemeClr val="tx1"/>
                </a:solidFill>
                <a:cs typeface="Times New Roman" panose="02020603050405020304" pitchFamily="18" charset="0"/>
              </a:rPr>
              <a:t>;</a:t>
            </a:r>
            <a:endParaRPr lang="uk-UA" noProof="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80990" indent="-380990">
              <a:spcBef>
                <a:spcPts val="1600"/>
              </a:spcBef>
              <a:spcAft>
                <a:spcPts val="1600"/>
              </a:spcAft>
              <a:buFontTx/>
              <a:buChar char="-"/>
            </a:pPr>
            <a:r>
              <a:rPr lang="uk-UA" dirty="0">
                <a:cs typeface="Times New Roman" panose="02020603050405020304" pitchFamily="18" charset="0"/>
              </a:rPr>
              <a:t>Вирішення – використання гетерогенних розподілених баз даних, які поєднують різні типи СКБД для досягнення оптимальних характеристик.</a:t>
            </a:r>
            <a:endParaRPr lang="uk-UA" noProof="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80990" indent="-380990" algn="just">
              <a:spcBef>
                <a:spcPts val="1600"/>
              </a:spcBef>
              <a:spcAft>
                <a:spcPts val="1600"/>
              </a:spcAft>
              <a:buFontTx/>
              <a:buChar char="-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2</a:t>
            </a:fld>
            <a:endParaRPr lang="uk-UA" sz="2400" dirty="0"/>
          </a:p>
        </p:txBody>
      </p:sp>
      <p:pic>
        <p:nvPicPr>
          <p:cNvPr id="8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3D10DDFC-5590-451C-B047-608F798B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24758" y="0"/>
            <a:ext cx="11542484" cy="110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r>
              <a:rPr lang="uk" sz="4000" dirty="0">
                <a:latin typeface="Open Sans"/>
                <a:cs typeface="Times New Roman" panose="02020603050405020304" pitchFamily="18" charset="0"/>
              </a:rPr>
              <a:t>Постановка задачі</a:t>
            </a:r>
            <a:endParaRPr sz="4267" dirty="0">
              <a:latin typeface="Open Sans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24758" y="2353630"/>
            <a:ext cx="11542484" cy="331137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/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uk-UA" sz="2000" b="1" dirty="0"/>
              <a:t>Основні задачі:</a:t>
            </a:r>
            <a:endParaRPr lang="en-US" sz="2000" b="1" dirty="0"/>
          </a:p>
          <a:p>
            <a:pPr marL="380990" indent="-38099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sz="2000" dirty="0" err="1"/>
              <a:t>Огляд</a:t>
            </a:r>
            <a:r>
              <a:rPr lang="ru-RU" sz="2000" dirty="0"/>
              <a:t> </a:t>
            </a:r>
            <a:r>
              <a:rPr lang="ru-RU" sz="2000" dirty="0" err="1"/>
              <a:t>підходів</a:t>
            </a:r>
            <a:r>
              <a:rPr lang="ru-RU" sz="2000" dirty="0"/>
              <a:t> та </a:t>
            </a:r>
            <a:r>
              <a:rPr lang="ru-RU" sz="2000" dirty="0" err="1"/>
              <a:t>вибір</a:t>
            </a:r>
            <a:r>
              <a:rPr lang="ru-RU" sz="2000" dirty="0"/>
              <a:t> </a:t>
            </a:r>
            <a:r>
              <a:rPr lang="ru-RU" sz="2000" dirty="0" err="1"/>
              <a:t>класів</a:t>
            </a:r>
            <a:r>
              <a:rPr lang="ru-RU" sz="2000" dirty="0"/>
              <a:t> СКБД для </a:t>
            </a:r>
            <a:r>
              <a:rPr lang="ru-RU" sz="2000" dirty="0" err="1"/>
              <a:t>гетерогенних</a:t>
            </a:r>
            <a:r>
              <a:rPr lang="ru-RU" sz="2000" dirty="0"/>
              <a:t> систем</a:t>
            </a:r>
            <a:r>
              <a:rPr lang="uk-UA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80990" indent="-38099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sz="2000" dirty="0" err="1"/>
              <a:t>Проєктування</a:t>
            </a:r>
            <a:r>
              <a:rPr lang="uk-UA" sz="2000" dirty="0"/>
              <a:t> архітектурних рішень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0990" indent="-38099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sz="2000" dirty="0" err="1"/>
              <a:t>Підготовка</a:t>
            </a:r>
            <a:r>
              <a:rPr lang="ru-RU" sz="2000" dirty="0"/>
              <a:t> </a:t>
            </a:r>
            <a:r>
              <a:rPr lang="ru-RU" sz="2000" dirty="0" err="1"/>
              <a:t>експериментальної</a:t>
            </a:r>
            <a:r>
              <a:rPr lang="ru-RU" sz="2000" dirty="0"/>
              <a:t> </a:t>
            </a:r>
            <a:r>
              <a:rPr lang="ru-RU" sz="2000" dirty="0" err="1"/>
              <a:t>бази</a:t>
            </a:r>
            <a:r>
              <a:rPr lang="ru-RU" sz="2000" dirty="0"/>
              <a:t>: </a:t>
            </a:r>
            <a:r>
              <a:rPr lang="ru-RU" sz="2000" dirty="0" err="1"/>
              <a:t>розробка</a:t>
            </a:r>
            <a:r>
              <a:rPr lang="ru-RU" sz="2000" dirty="0"/>
              <a:t> моделей, </a:t>
            </a:r>
            <a:r>
              <a:rPr lang="ru-RU" sz="2000" dirty="0" err="1"/>
              <a:t>прототипів</a:t>
            </a:r>
            <a:r>
              <a:rPr lang="ru-RU" sz="2000" dirty="0"/>
              <a:t> </a:t>
            </a:r>
            <a:r>
              <a:rPr lang="ru-RU" sz="2000" dirty="0" err="1"/>
              <a:t>каталогів</a:t>
            </a:r>
            <a:r>
              <a:rPr lang="ru-RU" sz="2000" dirty="0"/>
              <a:t>, </a:t>
            </a:r>
            <a:r>
              <a:rPr lang="ru-RU" sz="2000" dirty="0" err="1"/>
              <a:t>критеріїв</a:t>
            </a:r>
            <a:r>
              <a:rPr lang="ru-RU" sz="2000" dirty="0"/>
              <a:t> </a:t>
            </a:r>
            <a:r>
              <a:rPr lang="ru-RU" sz="2000" dirty="0" err="1"/>
              <a:t>оцінки</a:t>
            </a:r>
            <a:r>
              <a:rPr lang="ru-RU" sz="2000" dirty="0"/>
              <a:t> та ПЗ для </a:t>
            </a:r>
            <a:r>
              <a:rPr lang="ru-RU" sz="2000" dirty="0" err="1"/>
              <a:t>тестування</a:t>
            </a:r>
            <a:r>
              <a:rPr lang="en-US" sz="2000" dirty="0"/>
              <a:t>;</a:t>
            </a:r>
          </a:p>
          <a:p>
            <a:pPr marL="380990" indent="-38099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sz="2000" dirty="0"/>
              <a:t>Проведення експериментальних досліджень продуктивності</a:t>
            </a:r>
            <a:r>
              <a:rPr lang="uk-UA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80990" indent="-38099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sz="2000" dirty="0" err="1"/>
              <a:t>Аналіз</a:t>
            </a:r>
            <a:r>
              <a:rPr lang="ru-RU" sz="2000" dirty="0"/>
              <a:t> </a:t>
            </a:r>
            <a:r>
              <a:rPr lang="ru-RU" sz="2000" dirty="0" err="1"/>
              <a:t>результатів</a:t>
            </a:r>
            <a:r>
              <a:rPr lang="ru-RU" sz="2000" dirty="0"/>
              <a:t> </a:t>
            </a:r>
            <a:r>
              <a:rPr lang="ru-RU" sz="2000" dirty="0" err="1"/>
              <a:t>експериментів</a:t>
            </a:r>
            <a:r>
              <a:rPr lang="ru-RU" sz="2000" dirty="0"/>
              <a:t> та </a:t>
            </a:r>
            <a:r>
              <a:rPr lang="ru-RU" sz="2000" dirty="0" err="1"/>
              <a:t>розробка</a:t>
            </a:r>
            <a:r>
              <a:rPr lang="ru-RU" sz="2000" dirty="0"/>
              <a:t> </a:t>
            </a:r>
            <a:r>
              <a:rPr lang="ru-RU" sz="2000" dirty="0" err="1"/>
              <a:t>рекомендацій</a:t>
            </a:r>
            <a:r>
              <a:rPr lang="ru-RU" sz="2000" dirty="0"/>
              <a:t> </a:t>
            </a:r>
            <a:r>
              <a:rPr lang="ru-RU" sz="2000" dirty="0" err="1"/>
              <a:t>щодо</a:t>
            </a:r>
            <a:r>
              <a:rPr lang="ru-RU" sz="2000" dirty="0"/>
              <a:t> </a:t>
            </a:r>
            <a:r>
              <a:rPr lang="ru-RU" sz="2000" dirty="0" err="1"/>
              <a:t>вибору</a:t>
            </a:r>
            <a:r>
              <a:rPr lang="ru-RU" sz="2000" dirty="0"/>
              <a:t> архітектур.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3</a:t>
            </a:fld>
            <a:endParaRPr lang="uk-UA" sz="2400" dirty="0"/>
          </a:p>
        </p:txBody>
      </p:sp>
      <p:pic>
        <p:nvPicPr>
          <p:cNvPr id="8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3D10DDFC-5590-451C-B047-608F798B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72;p14">
            <a:extLst>
              <a:ext uri="{FF2B5EF4-FFF2-40B4-BE49-F238E27FC236}">
                <a16:creationId xmlns:a16="http://schemas.microsoft.com/office/drawing/2014/main" id="{086E547A-1830-4753-B2E7-21315387ED2B}"/>
              </a:ext>
            </a:extLst>
          </p:cNvPr>
          <p:cNvSpPr txBox="1">
            <a:spLocks/>
          </p:cNvSpPr>
          <p:nvPr/>
        </p:nvSpPr>
        <p:spPr>
          <a:xfrm>
            <a:off x="331915" y="1245230"/>
            <a:ext cx="11542484" cy="1108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marR="0" lvl="1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marR="0" lvl="2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marR="0" lvl="3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marR="0" lvl="4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marR="0" lvl="5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marR="0" lvl="6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marR="0" lvl="7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marR="0" lvl="8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uk-UA" sz="2000" b="1" dirty="0">
                <a:cs typeface="Times New Roman" panose="02020603050405020304" pitchFamily="18" charset="0"/>
              </a:rPr>
              <a:t>Мета: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uk-UA" sz="2000" dirty="0">
                <a:cs typeface="Times New Roman" panose="02020603050405020304" pitchFamily="18" charset="0"/>
              </a:rPr>
              <a:t>Дослідження методів реалізації каталогів товарів у системах електронної комерції з використанням гетерогенних розподілених баз даних та аналіз їх ефективності</a:t>
            </a:r>
            <a:endParaRPr lang="ru-RU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995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81DCC6-2FFE-4C5A-82C3-3BF312894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29" y="0"/>
            <a:ext cx="11496314" cy="1108400"/>
          </a:xfrm>
        </p:spPr>
        <p:txBody>
          <a:bodyPr/>
          <a:lstStyle/>
          <a:p>
            <a:r>
              <a:rPr lang="uk-UA" dirty="0"/>
              <a:t>Аналіз та вибір методів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19BBCE-5AE8-460C-87A6-82B87F8A4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260389"/>
            <a:ext cx="4947232" cy="4845244"/>
          </a:xfrm>
        </p:spPr>
        <p:txBody>
          <a:bodyPr/>
          <a:lstStyle/>
          <a:p>
            <a:pPr marL="152396" indent="0">
              <a:buNone/>
            </a:pPr>
            <a:r>
              <a:rPr lang="uk-UA" b="1" dirty="0"/>
              <a:t>Розглянуті альтернативи:</a:t>
            </a:r>
          </a:p>
          <a:p>
            <a:pPr marL="535335" indent="-28575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US" dirty="0"/>
              <a:t>MS SQL + Redis</a:t>
            </a:r>
          </a:p>
          <a:p>
            <a:pPr marL="535335" indent="-28575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US" dirty="0"/>
              <a:t>MS SQL + MongoDB</a:t>
            </a:r>
          </a:p>
          <a:p>
            <a:pPr marL="535335" indent="-28575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US" dirty="0"/>
              <a:t>MongoDB (</a:t>
            </a:r>
            <a:r>
              <a:rPr lang="uk-UA" dirty="0"/>
              <a:t>як самостійне сховище)</a:t>
            </a:r>
            <a:endParaRPr lang="en-US" dirty="0"/>
          </a:p>
          <a:p>
            <a:pPr marL="535335" indent="-28575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US" dirty="0"/>
              <a:t>MS SQL + Elasticsearch</a:t>
            </a:r>
          </a:p>
          <a:p>
            <a:pPr marL="535335" indent="-28575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US" dirty="0"/>
              <a:t>MS SQL + Redis + Elasticsearch</a:t>
            </a:r>
            <a:endParaRPr lang="uk-UA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43B53E74-3687-46CA-AF77-789695AC5DD3}"/>
              </a:ext>
            </a:extLst>
          </p:cNvPr>
          <p:cNvSpPr txBox="1">
            <a:spLocks/>
          </p:cNvSpPr>
          <p:nvPr/>
        </p:nvSpPr>
        <p:spPr>
          <a:xfrm>
            <a:off x="6829168" y="1260389"/>
            <a:ext cx="4947232" cy="4845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marR="0" lvl="1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marR="0" lvl="2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marR="0" lvl="3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marR="0" lvl="4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marR="0" lvl="5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marR="0" lvl="6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marR="0" lvl="7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marR="0" lvl="8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52396" indent="0">
              <a:buNone/>
            </a:pPr>
            <a:r>
              <a:rPr lang="uk-UA" b="1" dirty="0"/>
              <a:t>Критерії оцінювання:</a:t>
            </a:r>
          </a:p>
          <a:p>
            <a:pPr marL="534150" lvl="0" indent="-28575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uk-UA" dirty="0"/>
              <a:t>продуктивність;</a:t>
            </a:r>
            <a:endParaRPr lang="en-US" dirty="0"/>
          </a:p>
          <a:p>
            <a:pPr marL="534150" lvl="0" indent="-28575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uk-UA" dirty="0"/>
              <a:t>масштабованість;</a:t>
            </a:r>
            <a:endParaRPr lang="en-US" dirty="0"/>
          </a:p>
          <a:p>
            <a:pPr marL="534150" lvl="0" indent="-28575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uk-UA" dirty="0"/>
              <a:t>узгодженість;</a:t>
            </a:r>
            <a:endParaRPr lang="en-US" dirty="0"/>
          </a:p>
          <a:p>
            <a:pPr marL="534150" lvl="0" indent="-28575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uk-UA" dirty="0"/>
              <a:t>гнучкість структури даних;</a:t>
            </a:r>
            <a:endParaRPr lang="en-US" dirty="0"/>
          </a:p>
          <a:p>
            <a:pPr marL="534150" lvl="0" indent="-28575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uk-UA" dirty="0"/>
              <a:t>складність інтеграції;</a:t>
            </a:r>
            <a:endParaRPr lang="en-US" dirty="0"/>
          </a:p>
          <a:p>
            <a:pPr marL="534150" lvl="0" indent="-28575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uk-UA" dirty="0"/>
              <a:t>пошук і фільтрація;</a:t>
            </a:r>
            <a:endParaRPr lang="en-US" dirty="0"/>
          </a:p>
          <a:p>
            <a:pPr marL="534150" lvl="0" indent="-28575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uk-UA" dirty="0"/>
              <a:t>вартість експлуатації;</a:t>
            </a:r>
            <a:endParaRPr lang="en-US" dirty="0"/>
          </a:p>
          <a:p>
            <a:pPr marL="534150" lvl="0" indent="-28575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uk-UA" dirty="0"/>
              <a:t>популярність.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7541BD-3AC7-62BA-D01A-55B2724FDC03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4</a:t>
            </a:fld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25499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C47B270-4188-40A1-ACE5-52CE81230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"/>
            <a:ext cx="11360800" cy="917432"/>
          </a:xfrm>
        </p:spPr>
        <p:txBody>
          <a:bodyPr>
            <a:noAutofit/>
          </a:bodyPr>
          <a:lstStyle/>
          <a:p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ибір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методів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реалізації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каталогів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товарів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гетерогенних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БД</a:t>
            </a:r>
            <a:endParaRPr lang="uk-U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9F32E509-37E2-4B9D-A74F-8E0B1F4C245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15599" y="1151140"/>
                <a:ext cx="4242897" cy="2277860"/>
              </a:xfrm>
            </p:spPr>
            <p:txBody>
              <a:bodyPr>
                <a:normAutofit/>
              </a:bodyPr>
              <a:lstStyle/>
              <a:p>
                <a:pPr marL="203195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uk-U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uk-UA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uk-UA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uk-UA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uk-UA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uk-U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uk-U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uk-U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03195" indent="0">
                  <a:buNone/>
                </a:pPr>
                <a:r>
                  <a:rPr lang="uk-UA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де</a:t>
                </a:r>
              </a:p>
              <a:p>
                <a:pPr marL="203195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uk-UA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sz="1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uk-UA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uk-UA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uk-UA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uk-UA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nary>
                          <m:naryPr>
                            <m:chr m:val="∑"/>
                            <m:limLoc m:val="undOvr"/>
                            <m:ctrlPr>
                              <a:rPr lang="uk-UA" sz="1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uk-UA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uk-UA" sz="1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uk-UA" sz="1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b>
                              <m:sSubPr>
                                <m:ctrlPr>
                                  <a:rPr lang="uk-UA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uk-UA" sz="1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uk-UA" sz="14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uk-UA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− </a:t>
                </a:r>
                <a:r>
                  <a:rPr lang="uk-UA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нормуруючі</a:t>
                </a:r>
                <a:r>
                  <a:rPr lang="uk-UA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множники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uk-UA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03195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uk-UA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sz="1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uk-UA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uk-UA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− вагові коефіцієнти.</a:t>
                </a:r>
              </a:p>
              <a:p>
                <a:pPr marL="203195" indent="0">
                  <a:buNone/>
                </a:pPr>
                <a:endParaRPr lang="uk-UA" dirty="0"/>
              </a:p>
            </p:txBody>
          </p:sp>
        </mc:Choice>
        <mc:Fallback xmlns="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9F32E509-37E2-4B9D-A74F-8E0B1F4C24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5599" y="1151140"/>
                <a:ext cx="4242897" cy="227786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6">
                <a:extLst>
                  <a:ext uri="{FF2B5EF4-FFF2-40B4-BE49-F238E27FC236}">
                    <a16:creationId xmlns:a16="http://schemas.microsoft.com/office/drawing/2014/main" id="{7546F987-2C6C-41A6-9A0B-2CFBCD564E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2207875"/>
                  </p:ext>
                </p:extLst>
              </p:nvPr>
            </p:nvGraphicFramePr>
            <p:xfrm>
              <a:off x="4290646" y="917433"/>
              <a:ext cx="7413672" cy="5152909"/>
            </p:xfrm>
            <a:graphic>
              <a:graphicData uri="http://schemas.openxmlformats.org/drawingml/2006/table">
                <a:tbl>
                  <a:tblPr firstRow="1" bandRow="1">
                    <a:tableStyleId>{284E427A-3D55-4303-BF80-6455036E1DE7}</a:tableStyleId>
                  </a:tblPr>
                  <a:tblGrid>
                    <a:gridCol w="926709">
                      <a:extLst>
                        <a:ext uri="{9D8B030D-6E8A-4147-A177-3AD203B41FA5}">
                          <a16:colId xmlns:a16="http://schemas.microsoft.com/office/drawing/2014/main" val="334016288"/>
                        </a:ext>
                      </a:extLst>
                    </a:gridCol>
                    <a:gridCol w="926709">
                      <a:extLst>
                        <a:ext uri="{9D8B030D-6E8A-4147-A177-3AD203B41FA5}">
                          <a16:colId xmlns:a16="http://schemas.microsoft.com/office/drawing/2014/main" val="401715312"/>
                        </a:ext>
                      </a:extLst>
                    </a:gridCol>
                    <a:gridCol w="926709">
                      <a:extLst>
                        <a:ext uri="{9D8B030D-6E8A-4147-A177-3AD203B41FA5}">
                          <a16:colId xmlns:a16="http://schemas.microsoft.com/office/drawing/2014/main" val="2290494499"/>
                        </a:ext>
                      </a:extLst>
                    </a:gridCol>
                    <a:gridCol w="926709">
                      <a:extLst>
                        <a:ext uri="{9D8B030D-6E8A-4147-A177-3AD203B41FA5}">
                          <a16:colId xmlns:a16="http://schemas.microsoft.com/office/drawing/2014/main" val="775828962"/>
                        </a:ext>
                      </a:extLst>
                    </a:gridCol>
                    <a:gridCol w="926709">
                      <a:extLst>
                        <a:ext uri="{9D8B030D-6E8A-4147-A177-3AD203B41FA5}">
                          <a16:colId xmlns:a16="http://schemas.microsoft.com/office/drawing/2014/main" val="3462102004"/>
                        </a:ext>
                      </a:extLst>
                    </a:gridCol>
                    <a:gridCol w="926709">
                      <a:extLst>
                        <a:ext uri="{9D8B030D-6E8A-4147-A177-3AD203B41FA5}">
                          <a16:colId xmlns:a16="http://schemas.microsoft.com/office/drawing/2014/main" val="251872487"/>
                        </a:ext>
                      </a:extLst>
                    </a:gridCol>
                    <a:gridCol w="926709">
                      <a:extLst>
                        <a:ext uri="{9D8B030D-6E8A-4147-A177-3AD203B41FA5}">
                          <a16:colId xmlns:a16="http://schemas.microsoft.com/office/drawing/2014/main" val="335344665"/>
                        </a:ext>
                      </a:extLst>
                    </a:gridCol>
                    <a:gridCol w="926709">
                      <a:extLst>
                        <a:ext uri="{9D8B030D-6E8A-4147-A177-3AD203B41FA5}">
                          <a16:colId xmlns:a16="http://schemas.microsoft.com/office/drawing/2014/main" val="2092041957"/>
                        </a:ext>
                      </a:extLst>
                    </a:gridCol>
                  </a:tblGrid>
                  <a:tr h="45546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</a:rPr>
                            <a:t> 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 err="1">
                              <a:effectLst/>
                            </a:rPr>
                            <a:t>Прод</a:t>
                          </a:r>
                          <a:r>
                            <a:rPr lang="uk-UA" sz="1400" dirty="0">
                              <a:effectLst/>
                            </a:rPr>
                            <a:t>.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 err="1">
                              <a:effectLst/>
                            </a:rPr>
                            <a:t>Масшт</a:t>
                          </a:r>
                          <a:r>
                            <a:rPr lang="uk-UA" sz="1400" dirty="0">
                              <a:effectLst/>
                            </a:rPr>
                            <a:t>.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Узгод.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 err="1">
                              <a:effectLst/>
                            </a:rPr>
                            <a:t>Гнуч</a:t>
                          </a:r>
                          <a:r>
                            <a:rPr lang="uk-UA" sz="1400" dirty="0">
                              <a:effectLst/>
                            </a:rPr>
                            <a:t>.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Інтег.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Пош.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</a:rPr>
                            <a:t>Варт.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41060798"/>
                      </a:ext>
                    </a:extLst>
                  </a:tr>
                  <a:tr h="629355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MS SQL та Redis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17855114"/>
                      </a:ext>
                    </a:extLst>
                  </a:tr>
                  <a:tr h="944032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MS SQL та MongoDB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09804286"/>
                      </a:ext>
                    </a:extLst>
                  </a:tr>
                  <a:tr h="522215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MongoDB 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973155189"/>
                      </a:ext>
                    </a:extLst>
                  </a:tr>
                  <a:tr h="68014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</a:rPr>
                            <a:t>MS SQL та </a:t>
                          </a:r>
                          <a:r>
                            <a:rPr lang="uk-UA" sz="1400" dirty="0" err="1">
                              <a:effectLst/>
                            </a:rPr>
                            <a:t>Elastic</a:t>
                          </a:r>
                          <a:r>
                            <a:rPr lang="uk-UA" sz="1400" dirty="0">
                              <a:effectLst/>
                            </a:rPr>
                            <a:t>.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089306891"/>
                      </a:ext>
                    </a:extLst>
                  </a:tr>
                  <a:tr h="944032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MS SQL з Redis та Elastic.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48136160"/>
                      </a:ext>
                    </a:extLst>
                  </a:tr>
                  <a:tr h="522215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93503460"/>
                      </a:ext>
                    </a:extLst>
                  </a:tr>
                  <a:tr h="455460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uk-UA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uk-UA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</a:rPr>
                            <a:t>0.22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</a:rPr>
                            <a:t>0.13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</a:rPr>
                            <a:t>0.12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</a:rPr>
                            <a:t>0.08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0.20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0.12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</a:rPr>
                            <a:t>0.08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625389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6">
                <a:extLst>
                  <a:ext uri="{FF2B5EF4-FFF2-40B4-BE49-F238E27FC236}">
                    <a16:creationId xmlns:a16="http://schemas.microsoft.com/office/drawing/2014/main" id="{7546F987-2C6C-41A6-9A0B-2CFBCD564E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2207875"/>
                  </p:ext>
                </p:extLst>
              </p:nvPr>
            </p:nvGraphicFramePr>
            <p:xfrm>
              <a:off x="4290646" y="917433"/>
              <a:ext cx="7413672" cy="5152909"/>
            </p:xfrm>
            <a:graphic>
              <a:graphicData uri="http://schemas.openxmlformats.org/drawingml/2006/table">
                <a:tbl>
                  <a:tblPr firstRow="1" bandRow="1">
                    <a:tableStyleId>{284E427A-3D55-4303-BF80-6455036E1DE7}</a:tableStyleId>
                  </a:tblPr>
                  <a:tblGrid>
                    <a:gridCol w="926709">
                      <a:extLst>
                        <a:ext uri="{9D8B030D-6E8A-4147-A177-3AD203B41FA5}">
                          <a16:colId xmlns:a16="http://schemas.microsoft.com/office/drawing/2014/main" val="334016288"/>
                        </a:ext>
                      </a:extLst>
                    </a:gridCol>
                    <a:gridCol w="926709">
                      <a:extLst>
                        <a:ext uri="{9D8B030D-6E8A-4147-A177-3AD203B41FA5}">
                          <a16:colId xmlns:a16="http://schemas.microsoft.com/office/drawing/2014/main" val="401715312"/>
                        </a:ext>
                      </a:extLst>
                    </a:gridCol>
                    <a:gridCol w="926709">
                      <a:extLst>
                        <a:ext uri="{9D8B030D-6E8A-4147-A177-3AD203B41FA5}">
                          <a16:colId xmlns:a16="http://schemas.microsoft.com/office/drawing/2014/main" val="2290494499"/>
                        </a:ext>
                      </a:extLst>
                    </a:gridCol>
                    <a:gridCol w="926709">
                      <a:extLst>
                        <a:ext uri="{9D8B030D-6E8A-4147-A177-3AD203B41FA5}">
                          <a16:colId xmlns:a16="http://schemas.microsoft.com/office/drawing/2014/main" val="775828962"/>
                        </a:ext>
                      </a:extLst>
                    </a:gridCol>
                    <a:gridCol w="926709">
                      <a:extLst>
                        <a:ext uri="{9D8B030D-6E8A-4147-A177-3AD203B41FA5}">
                          <a16:colId xmlns:a16="http://schemas.microsoft.com/office/drawing/2014/main" val="3462102004"/>
                        </a:ext>
                      </a:extLst>
                    </a:gridCol>
                    <a:gridCol w="926709">
                      <a:extLst>
                        <a:ext uri="{9D8B030D-6E8A-4147-A177-3AD203B41FA5}">
                          <a16:colId xmlns:a16="http://schemas.microsoft.com/office/drawing/2014/main" val="251872487"/>
                        </a:ext>
                      </a:extLst>
                    </a:gridCol>
                    <a:gridCol w="926709">
                      <a:extLst>
                        <a:ext uri="{9D8B030D-6E8A-4147-A177-3AD203B41FA5}">
                          <a16:colId xmlns:a16="http://schemas.microsoft.com/office/drawing/2014/main" val="335344665"/>
                        </a:ext>
                      </a:extLst>
                    </a:gridCol>
                    <a:gridCol w="926709">
                      <a:extLst>
                        <a:ext uri="{9D8B030D-6E8A-4147-A177-3AD203B41FA5}">
                          <a16:colId xmlns:a16="http://schemas.microsoft.com/office/drawing/2014/main" val="2092041957"/>
                        </a:ext>
                      </a:extLst>
                    </a:gridCol>
                  </a:tblGrid>
                  <a:tr h="45546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</a:rPr>
                            <a:t> 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 err="1">
                              <a:effectLst/>
                            </a:rPr>
                            <a:t>Прод</a:t>
                          </a:r>
                          <a:r>
                            <a:rPr lang="uk-UA" sz="1400" dirty="0">
                              <a:effectLst/>
                            </a:rPr>
                            <a:t>.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 err="1">
                              <a:effectLst/>
                            </a:rPr>
                            <a:t>Масшт</a:t>
                          </a:r>
                          <a:r>
                            <a:rPr lang="uk-UA" sz="1400" dirty="0">
                              <a:effectLst/>
                            </a:rPr>
                            <a:t>.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Узгод.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 err="1">
                              <a:effectLst/>
                            </a:rPr>
                            <a:t>Гнуч</a:t>
                          </a:r>
                          <a:r>
                            <a:rPr lang="uk-UA" sz="1400" dirty="0">
                              <a:effectLst/>
                            </a:rPr>
                            <a:t>.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Інтег.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Пош.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</a:rPr>
                            <a:t>Варт.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41060798"/>
                      </a:ext>
                    </a:extLst>
                  </a:tr>
                  <a:tr h="629355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MS SQL та Redis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4605" t="-76699" r="-607237" b="-660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4605" t="-76699" r="-507237" b="-660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02614" t="-76699" r="-403922" b="-660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05263" t="-76699" r="-306579" b="-660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505263" t="-76699" r="-206579" b="-660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605263" t="-76699" r="-106579" b="-660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705263" t="-76699" r="-6579" b="-660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7855114"/>
                      </a:ext>
                    </a:extLst>
                  </a:tr>
                  <a:tr h="944032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MS SQL та MongoDB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4605" t="-117419" r="-607237" b="-3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4605" t="-117419" r="-507237" b="-3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02614" t="-117419" r="-403922" b="-3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05263" t="-117419" r="-306579" b="-3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505263" t="-117419" r="-206579" b="-3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605263" t="-117419" r="-106579" b="-3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705263" t="-117419" r="-6579" b="-3387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804286"/>
                      </a:ext>
                    </a:extLst>
                  </a:tr>
                  <a:tr h="522215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MongoDB 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4605" t="-391860" r="-607237" b="-5104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4605" t="-391860" r="-507237" b="-5104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02614" t="-391860" r="-403922" b="-5104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05263" t="-391860" r="-306579" b="-5104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505263" t="-391860" r="-206579" b="-5104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605263" t="-391860" r="-106579" b="-5104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705263" t="-391860" r="-6579" b="-5104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3155189"/>
                      </a:ext>
                    </a:extLst>
                  </a:tr>
                  <a:tr h="68014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</a:rPr>
                            <a:t>MS SQL та </a:t>
                          </a:r>
                          <a:r>
                            <a:rPr lang="uk-UA" sz="1400" dirty="0" err="1">
                              <a:effectLst/>
                            </a:rPr>
                            <a:t>Elastic</a:t>
                          </a:r>
                          <a:r>
                            <a:rPr lang="uk-UA" sz="1400" dirty="0">
                              <a:effectLst/>
                            </a:rPr>
                            <a:t>.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4605" t="-381081" r="-607237" b="-2954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4605" t="-381081" r="-507237" b="-2954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02614" t="-381081" r="-403922" b="-2954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05263" t="-381081" r="-306579" b="-2954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505263" t="-381081" r="-206579" b="-2954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605263" t="-381081" r="-106579" b="-2954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705263" t="-381081" r="-6579" b="-2954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9306891"/>
                      </a:ext>
                    </a:extLst>
                  </a:tr>
                  <a:tr h="944032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MS SQL з Redis та Elastic.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4605" t="-344516" r="-607237" b="-11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4605" t="-344516" r="-507237" b="-11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02614" t="-344516" r="-403922" b="-11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05263" t="-344516" r="-306579" b="-11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505263" t="-344516" r="-206579" b="-11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605263" t="-344516" r="-106579" b="-11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705263" t="-344516" r="-6579" b="-11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8136160"/>
                      </a:ext>
                    </a:extLst>
                  </a:tr>
                  <a:tr h="522215"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605" t="-801163" r="-707237" b="-1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4605" t="-801163" r="-607237" b="-1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4605" t="-801163" r="-507237" b="-1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02614" t="-801163" r="-403922" b="-1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05263" t="-801163" r="-306579" b="-1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505263" t="-801163" r="-206579" b="-1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605263" t="-801163" r="-106579" b="-1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705263" t="-801163" r="-6579" b="-1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503460"/>
                      </a:ext>
                    </a:extLst>
                  </a:tr>
                  <a:tr h="455460"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605" t="-1033333" r="-707237" b="-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</a:rPr>
                            <a:t>0.22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</a:rPr>
                            <a:t>0.13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</a:rPr>
                            <a:t>0.12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</a:rPr>
                            <a:t>0.08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0.20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>
                              <a:effectLst/>
                            </a:rPr>
                            <a:t>0.12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</a:rPr>
                            <a:t>0.08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6253894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05482D4E-52D0-487B-B92D-39088DA19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AC8EA6-9251-43AB-BBF0-E6EA2F93E05E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5</a:t>
            </a:fld>
            <a:endParaRPr lang="uk-UA" sz="2400" dirty="0"/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F7E40969-3BF9-413C-839F-DA774EC02018}"/>
              </a:ext>
            </a:extLst>
          </p:cNvPr>
          <p:cNvSpPr txBox="1">
            <a:spLocks/>
          </p:cNvSpPr>
          <p:nvPr/>
        </p:nvSpPr>
        <p:spPr>
          <a:xfrm>
            <a:off x="415600" y="3428999"/>
            <a:ext cx="4242896" cy="227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marR="0" lvl="1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marR="0" lvl="2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marR="0" lvl="3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marR="0" lvl="4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marR="0" lvl="5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marR="0" lvl="6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marR="0" lvl="7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marR="0" lvl="8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Open Sans"/>
              <a:buNone/>
            </a:pPr>
            <a:r>
              <a:rPr lang="uk-UA" b="1" dirty="0"/>
              <a:t>Результати:</a:t>
            </a:r>
          </a:p>
          <a:p>
            <a:pPr marL="360000" indent="-28575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b="1" i="1" dirty="0">
                <a:solidFill>
                  <a:srgbClr val="00B050"/>
                </a:solidFill>
              </a:rPr>
              <a:t>MS SQL + Redis</a:t>
            </a:r>
            <a:r>
              <a:rPr lang="uk-UA" b="1" i="1" dirty="0">
                <a:solidFill>
                  <a:srgbClr val="00B050"/>
                </a:solidFill>
              </a:rPr>
              <a:t>: 0.2054</a:t>
            </a:r>
          </a:p>
          <a:p>
            <a:pPr marL="360000" indent="-28575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b="1" i="1" dirty="0">
                <a:solidFill>
                  <a:srgbClr val="00B050"/>
                </a:solidFill>
              </a:rPr>
              <a:t>MS SQL + MongoDB: 0.2148</a:t>
            </a:r>
          </a:p>
          <a:p>
            <a:pPr marL="360000" indent="-28575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dirty="0"/>
              <a:t>MongoDB</a:t>
            </a:r>
            <a:r>
              <a:rPr lang="uk-UA" dirty="0"/>
              <a:t>: 0.2021</a:t>
            </a:r>
          </a:p>
          <a:p>
            <a:pPr marL="360000" indent="-28575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dirty="0"/>
              <a:t>MS SQL + Elasticsearch</a:t>
            </a:r>
            <a:r>
              <a:rPr lang="uk-UA" dirty="0"/>
              <a:t>: 0.1939</a:t>
            </a:r>
          </a:p>
          <a:p>
            <a:pPr marL="360000" indent="-28575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dirty="0"/>
              <a:t>MS SQL + Redis + Elasticsearch</a:t>
            </a:r>
            <a:r>
              <a:rPr lang="uk-UA" dirty="0"/>
              <a:t>: 0.1838</a:t>
            </a:r>
          </a:p>
        </p:txBody>
      </p:sp>
    </p:spTree>
    <p:extLst>
      <p:ext uri="{BB962C8B-B14F-4D97-AF65-F5344CB8AC3E}">
        <p14:creationId xmlns:p14="http://schemas.microsoft.com/office/powerpoint/2010/main" val="4057944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F53754E5-5DFD-4F25-9451-5251DB582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210" y="195814"/>
            <a:ext cx="5713353" cy="622121"/>
          </a:xfrm>
        </p:spPr>
        <p:txBody>
          <a:bodyPr>
            <a:normAutofit fontScale="90000"/>
          </a:bodyPr>
          <a:lstStyle/>
          <a:p>
            <a:r>
              <a:rPr lang="uk-UA" dirty="0"/>
              <a:t>Аналіз предметної області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14919B33-E64E-41AE-8FB9-AD5C444C8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800" y="1633633"/>
            <a:ext cx="5608963" cy="3986644"/>
          </a:xfrm>
        </p:spPr>
        <p:txBody>
          <a:bodyPr>
            <a:normAutofit fontScale="85000" lnSpcReduction="20000"/>
          </a:bodyPr>
          <a:lstStyle/>
          <a:p>
            <a:pPr marL="152396" indent="0">
              <a:buNone/>
            </a:pPr>
            <a:r>
              <a:rPr lang="ru-RU" b="1" dirty="0"/>
              <a:t>Предметна область:</a:t>
            </a:r>
            <a:r>
              <a:rPr lang="ru-RU" dirty="0"/>
              <a:t> B2B-система </a:t>
            </a:r>
            <a:r>
              <a:rPr lang="ru-RU" dirty="0" err="1"/>
              <a:t>електронної</a:t>
            </a:r>
            <a:r>
              <a:rPr lang="ru-RU" dirty="0"/>
              <a:t> </a:t>
            </a:r>
            <a:r>
              <a:rPr lang="ru-RU" dirty="0" err="1"/>
              <a:t>комерції</a:t>
            </a:r>
            <a:r>
              <a:rPr lang="ru-RU" dirty="0"/>
              <a:t> для </a:t>
            </a:r>
            <a:r>
              <a:rPr lang="ru-RU" dirty="0" err="1"/>
              <a:t>дистрибуції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.</a:t>
            </a:r>
          </a:p>
          <a:p>
            <a:pPr marL="152396" indent="0">
              <a:buNone/>
            </a:pPr>
            <a:endParaRPr lang="ru-RU" dirty="0"/>
          </a:p>
          <a:p>
            <a:pPr marL="152396" indent="0">
              <a:buNone/>
            </a:pPr>
            <a:r>
              <a:rPr lang="uk-UA" b="1" dirty="0"/>
              <a:t>Особливості: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dirty="0"/>
              <a:t>Складна </a:t>
            </a:r>
            <a:r>
              <a:rPr lang="ru-RU" dirty="0" err="1"/>
              <a:t>ієрархія</a:t>
            </a:r>
            <a:r>
              <a:rPr lang="ru-RU" dirty="0"/>
              <a:t> та </a:t>
            </a:r>
            <a:r>
              <a:rPr lang="ru-RU" dirty="0" err="1"/>
              <a:t>вимоги</a:t>
            </a:r>
            <a:r>
              <a:rPr lang="ru-RU" dirty="0"/>
              <a:t> до </a:t>
            </a:r>
            <a:r>
              <a:rPr lang="ru-RU" dirty="0" err="1"/>
              <a:t>транзакційної</a:t>
            </a:r>
            <a:r>
              <a:rPr lang="ru-RU" dirty="0"/>
              <a:t> </a:t>
            </a:r>
            <a:r>
              <a:rPr lang="ru-RU" dirty="0" err="1"/>
              <a:t>надійності</a:t>
            </a:r>
            <a:r>
              <a:rPr lang="ru-RU" dirty="0"/>
              <a:t> </a:t>
            </a:r>
            <a:r>
              <a:rPr lang="ru-RU" dirty="0" err="1"/>
              <a:t>замовлень</a:t>
            </a:r>
            <a:endParaRPr lang="ru-RU" dirty="0"/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dirty="0"/>
              <a:t>Каталог </a:t>
            </a:r>
            <a:r>
              <a:rPr lang="ru-RU" dirty="0" err="1"/>
              <a:t>зі</a:t>
            </a:r>
            <a:r>
              <a:rPr lang="ru-RU" dirty="0"/>
              <a:t> складною структурою </a:t>
            </a:r>
            <a:r>
              <a:rPr lang="ru-RU" dirty="0" err="1"/>
              <a:t>атрибутів</a:t>
            </a:r>
            <a:r>
              <a:rPr lang="ru-RU" dirty="0"/>
              <a:t> </a:t>
            </a:r>
            <a:r>
              <a:rPr lang="ru-RU" dirty="0" err="1"/>
              <a:t>товарів</a:t>
            </a:r>
            <a:endParaRPr lang="ru-RU" dirty="0"/>
          </a:p>
          <a:p>
            <a:pPr marL="152396" indent="0">
              <a:buNone/>
            </a:pPr>
            <a:endParaRPr lang="ru-RU" dirty="0"/>
          </a:p>
          <a:p>
            <a:pPr marL="152396" indent="0">
              <a:buNone/>
            </a:pPr>
            <a:r>
              <a:rPr lang="uk-UA" b="1" dirty="0"/>
              <a:t>Логічне розділення архітектури:</a:t>
            </a:r>
          </a:p>
          <a:p>
            <a:pPr marL="630238" indent="-477838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dirty="0"/>
              <a:t>Модуль взаємодії учасників </a:t>
            </a:r>
            <a:r>
              <a:rPr lang="en-US" dirty="0"/>
              <a:t>(Partner, Customer)</a:t>
            </a:r>
            <a:endParaRPr lang="uk-UA" dirty="0"/>
          </a:p>
          <a:p>
            <a:pPr marL="630238" indent="-477838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dirty="0"/>
              <a:t>Модуль обробки замовлень </a:t>
            </a:r>
            <a:r>
              <a:rPr lang="en-US" dirty="0"/>
              <a:t>(Orders, </a:t>
            </a:r>
            <a:r>
              <a:rPr lang="en-US" dirty="0" err="1"/>
              <a:t>Order_product</a:t>
            </a:r>
            <a:r>
              <a:rPr lang="en-US" dirty="0"/>
              <a:t>)</a:t>
            </a:r>
            <a:endParaRPr lang="uk-UA" dirty="0"/>
          </a:p>
          <a:p>
            <a:pPr marL="630238" indent="-477838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dirty="0"/>
              <a:t>Модуль структури каталогу </a:t>
            </a:r>
            <a:r>
              <a:rPr lang="en-US" dirty="0"/>
              <a:t>(Product, Category, Vendor, Price)</a:t>
            </a:r>
            <a:endParaRPr lang="uk-UA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0D699B5-5B45-4FD9-838A-FEF42F73DDD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369" y="703385"/>
            <a:ext cx="6365631" cy="54384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CE923E8-5208-4FEC-B733-76ACD41F71C4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6</a:t>
            </a:fld>
            <a:endParaRPr lang="uk-UA" sz="2400" dirty="0"/>
          </a:p>
        </p:txBody>
      </p:sp>
      <p:pic>
        <p:nvPicPr>
          <p:cNvPr id="16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AE52EDF3-2F23-4BD4-AD5C-748526652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8646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F53754E5-5DFD-4F25-9451-5251DB582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0848" y="37780"/>
            <a:ext cx="7134061" cy="563505"/>
          </a:xfrm>
        </p:spPr>
        <p:txBody>
          <a:bodyPr>
            <a:noAutofit/>
          </a:bodyPr>
          <a:lstStyle/>
          <a:p>
            <a:pPr algn="ctr"/>
            <a:r>
              <a:rPr lang="uk-UA" sz="3200" dirty="0"/>
              <a:t>Логічна модель </a:t>
            </a:r>
            <a:r>
              <a:rPr lang="en-US" sz="3200" dirty="0"/>
              <a:t>MS SQL + MongoDB</a:t>
            </a:r>
            <a:endParaRPr lang="uk-UA" sz="3200" dirty="0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14919B33-E64E-41AE-8FB9-AD5C444C8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881" y="4869805"/>
            <a:ext cx="5771242" cy="1733660"/>
          </a:xfrm>
        </p:spPr>
        <p:txBody>
          <a:bodyPr>
            <a:noAutofit/>
          </a:bodyPr>
          <a:lstStyle/>
          <a:p>
            <a:pPr marL="152396" indent="0">
              <a:buNone/>
            </a:pPr>
            <a:r>
              <a:rPr lang="uk-UA" sz="1400" b="1" dirty="0" err="1"/>
              <a:t>Транзакційний</a:t>
            </a:r>
            <a:r>
              <a:rPr lang="uk-UA" sz="1400" b="1" dirty="0"/>
              <a:t> сегмент (</a:t>
            </a:r>
            <a:r>
              <a:rPr lang="en-US" sz="1400" b="1" dirty="0"/>
              <a:t>MS SQL):</a:t>
            </a:r>
            <a:endParaRPr lang="uk-UA" sz="1400" b="1" dirty="0"/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sz="1400" dirty="0" err="1"/>
              <a:t>Збереження</a:t>
            </a:r>
            <a:r>
              <a:rPr lang="ru-RU" sz="1400" dirty="0"/>
              <a:t> 3-ї </a:t>
            </a:r>
            <a:r>
              <a:rPr lang="ru-RU" sz="1400" dirty="0" err="1"/>
              <a:t>нормальної</a:t>
            </a:r>
            <a:r>
              <a:rPr lang="ru-RU" sz="1400" dirty="0"/>
              <a:t> </a:t>
            </a:r>
            <a:r>
              <a:rPr lang="ru-RU" sz="1400" dirty="0" err="1"/>
              <a:t>форми</a:t>
            </a:r>
            <a:r>
              <a:rPr lang="ru-RU" sz="1400" dirty="0"/>
              <a:t> для </a:t>
            </a:r>
            <a:r>
              <a:rPr lang="ru-RU" sz="1400" dirty="0" err="1"/>
              <a:t>гарантування</a:t>
            </a:r>
            <a:r>
              <a:rPr lang="ru-RU" sz="1400" dirty="0"/>
              <a:t> </a:t>
            </a:r>
            <a:r>
              <a:rPr lang="ru-RU" sz="1400" dirty="0" err="1"/>
              <a:t>цілісності</a:t>
            </a:r>
            <a:r>
              <a:rPr lang="ru-RU" sz="1400" dirty="0"/>
              <a:t> </a:t>
            </a:r>
            <a:r>
              <a:rPr lang="ru-RU" sz="1400" dirty="0" err="1"/>
              <a:t>даних</a:t>
            </a:r>
            <a:r>
              <a:rPr lang="ru-RU" sz="1400" dirty="0"/>
              <a:t> </a:t>
            </a:r>
            <a:r>
              <a:rPr lang="ru-RU" sz="1400" dirty="0" err="1"/>
              <a:t>користувачів</a:t>
            </a:r>
            <a:r>
              <a:rPr lang="ru-RU" sz="1400" dirty="0"/>
              <a:t> та </a:t>
            </a:r>
            <a:r>
              <a:rPr lang="ru-RU" sz="1400" dirty="0" err="1"/>
              <a:t>замовлень</a:t>
            </a:r>
            <a:endParaRPr lang="ru-RU" sz="1400" dirty="0"/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1400" dirty="0" err="1"/>
              <a:t>Order_product</a:t>
            </a:r>
            <a:r>
              <a:rPr lang="en-US" sz="1400" dirty="0"/>
              <a:t> </a:t>
            </a:r>
            <a:r>
              <a:rPr lang="uk-UA" sz="1400" dirty="0"/>
              <a:t>зберігає посилання на _</a:t>
            </a:r>
            <a:r>
              <a:rPr lang="en-US" sz="1400" dirty="0"/>
              <a:t>id </a:t>
            </a:r>
            <a:r>
              <a:rPr lang="uk-UA" sz="1400" dirty="0"/>
              <a:t>документа </a:t>
            </a:r>
            <a:r>
              <a:rPr lang="en-US" sz="1400" dirty="0"/>
              <a:t>MongoDB </a:t>
            </a:r>
            <a:r>
              <a:rPr lang="uk-UA" sz="1400" dirty="0"/>
              <a:t>та копію критичних даних для історії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E923E8-5208-4FEC-B733-76ACD41F71C4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7</a:t>
            </a:fld>
            <a:endParaRPr lang="uk-UA" sz="2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7F5287-CD58-4560-8E75-D13E81A04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118" y="984730"/>
            <a:ext cx="6208789" cy="38850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6DF0FA-EB07-4FB2-9BAB-B248C22B2C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" y="1005232"/>
            <a:ext cx="4603538" cy="38157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E26158-7322-8E71-824D-FA42742ED25F}"/>
              </a:ext>
            </a:extLst>
          </p:cNvPr>
          <p:cNvSpPr txBox="1"/>
          <p:nvPr/>
        </p:nvSpPr>
        <p:spPr>
          <a:xfrm>
            <a:off x="6227879" y="4820999"/>
            <a:ext cx="60960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endParaRPr lang="uk-UA" dirty="0"/>
          </a:p>
          <a:p>
            <a:pPr marL="152396" indent="0">
              <a:buNone/>
            </a:pPr>
            <a:r>
              <a:rPr lang="uk-UA" b="1" dirty="0"/>
              <a:t>Продуктовий сегмент (</a:t>
            </a:r>
            <a:r>
              <a:rPr lang="en-US" b="1" dirty="0"/>
              <a:t>MongoDB):</a:t>
            </a:r>
            <a:endParaRPr lang="uk-UA" b="1" dirty="0"/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dirty="0"/>
              <a:t>Використання методу </a:t>
            </a:r>
            <a:r>
              <a:rPr lang="uk-UA" dirty="0" err="1"/>
              <a:t>денормалізації</a:t>
            </a:r>
            <a:r>
              <a:rPr lang="uk-UA" dirty="0"/>
              <a:t>, у документ </a:t>
            </a:r>
            <a:r>
              <a:rPr lang="uk-UA" dirty="0" err="1"/>
              <a:t>Product</a:t>
            </a:r>
            <a:r>
              <a:rPr lang="uk-UA" dirty="0"/>
              <a:t> вбудовується лише та інформація з довідників, яка потрібна для відображення картки товару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dirty="0"/>
              <a:t>Повні довідкові сутності винесені в незалежні колекції для підтримки </a:t>
            </a:r>
            <a:r>
              <a:rPr lang="uk-UA" dirty="0" err="1"/>
              <a:t>консистентності</a:t>
            </a:r>
            <a:r>
              <a:rPr lang="uk-UA" dirty="0"/>
              <a:t> бізнес-правил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6E4A92-9B77-AEA3-9BDA-6EDF5AC6B08F}"/>
              </a:ext>
            </a:extLst>
          </p:cNvPr>
          <p:cNvSpPr txBox="1"/>
          <p:nvPr/>
        </p:nvSpPr>
        <p:spPr>
          <a:xfrm>
            <a:off x="445477" y="588918"/>
            <a:ext cx="11599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Підхід </a:t>
            </a:r>
            <a:r>
              <a:rPr lang="en-GB" b="1" dirty="0"/>
              <a:t>Polyglot Persistence</a:t>
            </a:r>
            <a:r>
              <a:rPr lang="en-GB" dirty="0"/>
              <a:t>: </a:t>
            </a:r>
            <a:r>
              <a:rPr lang="uk-UA" dirty="0"/>
              <a:t>розділення системи на </a:t>
            </a:r>
            <a:r>
              <a:rPr lang="uk-UA" dirty="0" err="1"/>
              <a:t>транзакційну</a:t>
            </a:r>
            <a:r>
              <a:rPr lang="uk-UA" dirty="0"/>
              <a:t> та продуктову складові для балансу надійності і швидкості читання.</a:t>
            </a:r>
          </a:p>
        </p:txBody>
      </p:sp>
    </p:spTree>
    <p:extLst>
      <p:ext uri="{BB962C8B-B14F-4D97-AF65-F5344CB8AC3E}">
        <p14:creationId xmlns:p14="http://schemas.microsoft.com/office/powerpoint/2010/main" val="3341791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F53754E5-5DFD-4F25-9451-5251DB582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8458" y="178230"/>
            <a:ext cx="5713353" cy="65729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 err="1"/>
              <a:t>Логічна</a:t>
            </a:r>
            <a:r>
              <a:rPr lang="ru-RU" sz="3200" dirty="0"/>
              <a:t> модель MS SQL + Redis</a:t>
            </a:r>
            <a:endParaRPr lang="uk-UA" sz="3200" dirty="0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14919B33-E64E-41AE-8FB9-AD5C444C8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844" y="941971"/>
            <a:ext cx="4497494" cy="4678306"/>
          </a:xfrm>
        </p:spPr>
        <p:txBody>
          <a:bodyPr>
            <a:normAutofit fontScale="77500" lnSpcReduction="20000"/>
          </a:bodyPr>
          <a:lstStyle/>
          <a:p>
            <a:pPr marL="152396" indent="0">
              <a:buNone/>
            </a:pPr>
            <a:r>
              <a:rPr lang="uk-UA" dirty="0"/>
              <a:t>У даній гібридній архітектурі </a:t>
            </a:r>
            <a:r>
              <a:rPr lang="en-US" dirty="0"/>
              <a:t>MS SQL </a:t>
            </a:r>
            <a:r>
              <a:rPr lang="uk-UA" dirty="0"/>
              <a:t>гарантує надійне зберігання всіх даних у третій нормальній формі та забезпечує </a:t>
            </a:r>
            <a:r>
              <a:rPr lang="en-US" dirty="0"/>
              <a:t>ACID-</a:t>
            </a:r>
            <a:r>
              <a:rPr lang="uk-UA" dirty="0"/>
              <a:t>транзакції. Натомість </a:t>
            </a:r>
            <a:r>
              <a:rPr lang="en-US" dirty="0"/>
              <a:t>Redis </a:t>
            </a:r>
            <a:r>
              <a:rPr lang="uk-UA" dirty="0"/>
              <a:t>виступає високошвидкісним попередньо прогрітим шаром кешування (куди всі необхідні дані завантажуються під час запуску застосунку) для зняття навантаження при читанні.</a:t>
            </a:r>
          </a:p>
          <a:p>
            <a:pPr marL="152396" indent="0">
              <a:buNone/>
            </a:pPr>
            <a:endParaRPr lang="ru-RU" dirty="0"/>
          </a:p>
          <a:p>
            <a:pPr marL="152396" indent="0">
              <a:buNone/>
            </a:pPr>
            <a:r>
              <a:rPr lang="uk-UA" b="1" dirty="0"/>
              <a:t>Особливості реалізації кешу: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dirty="0"/>
              <a:t>Дані з 8 пов'язаних реляційних таблиць </a:t>
            </a:r>
            <a:r>
              <a:rPr lang="uk-UA" dirty="0" err="1"/>
              <a:t>агрегуються</a:t>
            </a:r>
            <a:r>
              <a:rPr lang="uk-UA" dirty="0"/>
              <a:t> та </a:t>
            </a:r>
            <a:r>
              <a:rPr lang="uk-UA" dirty="0" err="1"/>
              <a:t>серіалізуються</a:t>
            </a:r>
            <a:r>
              <a:rPr lang="uk-UA" dirty="0"/>
              <a:t> в єдиний </a:t>
            </a:r>
            <a:r>
              <a:rPr lang="en-US" dirty="0"/>
              <a:t>JSON-</a:t>
            </a:r>
            <a:r>
              <a:rPr lang="uk-UA" dirty="0"/>
              <a:t>об'єкт із ключем </a:t>
            </a:r>
            <a:r>
              <a:rPr lang="en-US" dirty="0"/>
              <a:t>product:{id}</a:t>
            </a:r>
            <a:endParaRPr lang="uk-UA" dirty="0"/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dirty="0" err="1"/>
              <a:t>Довідники</a:t>
            </a:r>
            <a:r>
              <a:rPr lang="ru-RU" dirty="0"/>
              <a:t> </a:t>
            </a:r>
            <a:r>
              <a:rPr lang="ru-RU" dirty="0" err="1"/>
              <a:t>зберігаються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уникати</a:t>
            </a:r>
            <a:r>
              <a:rPr lang="ru-RU" dirty="0"/>
              <a:t> </a:t>
            </a:r>
            <a:r>
              <a:rPr lang="ru-RU" dirty="0" err="1"/>
              <a:t>важких</a:t>
            </a:r>
            <a:r>
              <a:rPr lang="ru-RU" dirty="0"/>
              <a:t> </a:t>
            </a:r>
            <a:r>
              <a:rPr lang="ru-RU" dirty="0" err="1"/>
              <a:t>звернень</a:t>
            </a:r>
            <a:r>
              <a:rPr lang="ru-RU" dirty="0"/>
              <a:t> до MS SQL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операцій</a:t>
            </a:r>
            <a:r>
              <a:rPr lang="ru-RU" dirty="0"/>
              <a:t> </a:t>
            </a:r>
            <a:r>
              <a:rPr lang="ru-RU" dirty="0" err="1"/>
              <a:t>запису</a:t>
            </a:r>
            <a:endParaRPr lang="ru-RU" dirty="0"/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dirty="0" err="1"/>
              <a:t>Фільтрація</a:t>
            </a:r>
            <a:r>
              <a:rPr lang="ru-RU" dirty="0"/>
              <a:t> та </a:t>
            </a:r>
            <a:r>
              <a:rPr lang="ru-RU" dirty="0" err="1"/>
              <a:t>пошукові</a:t>
            </a:r>
            <a:r>
              <a:rPr lang="ru-RU" dirty="0"/>
              <a:t> </a:t>
            </a:r>
            <a:r>
              <a:rPr lang="ru-RU" dirty="0" err="1"/>
              <a:t>запити</a:t>
            </a:r>
            <a:r>
              <a:rPr lang="ru-RU" dirty="0"/>
              <a:t> </a:t>
            </a:r>
            <a:r>
              <a:rPr lang="ru-RU" dirty="0" err="1"/>
              <a:t>виконуються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модуля </a:t>
            </a:r>
            <a:r>
              <a:rPr lang="ru-RU" dirty="0" err="1"/>
              <a:t>RedisSearch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автоматично </a:t>
            </a:r>
            <a:r>
              <a:rPr lang="ru-RU" dirty="0" err="1"/>
              <a:t>підтримує</a:t>
            </a:r>
            <a:r>
              <a:rPr lang="ru-RU" dirty="0"/>
              <a:t> </a:t>
            </a:r>
            <a:r>
              <a:rPr lang="ru-RU" dirty="0" err="1"/>
              <a:t>інвертовані</a:t>
            </a:r>
            <a:r>
              <a:rPr lang="ru-RU" dirty="0"/>
              <a:t> </a:t>
            </a:r>
            <a:r>
              <a:rPr lang="ru-RU" dirty="0" err="1"/>
              <a:t>індекси</a:t>
            </a:r>
            <a:endParaRPr lang="uk-U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E923E8-5208-4FEC-B733-76ACD41F71C4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8</a:t>
            </a:fld>
            <a:endParaRPr lang="uk-UA" sz="2400" dirty="0"/>
          </a:p>
        </p:txBody>
      </p:sp>
      <p:pic>
        <p:nvPicPr>
          <p:cNvPr id="16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AE52EDF3-2F23-4BD4-AD5C-748526652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B510573-E375-4EC9-8BD7-3D4C5069D287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354" y="835520"/>
            <a:ext cx="7338646" cy="47847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060F8BC-4DEE-4E99-B876-602B9905B9AD}"/>
              </a:ext>
            </a:extLst>
          </p:cNvPr>
          <p:cNvSpPr/>
          <p:nvPr/>
        </p:nvSpPr>
        <p:spPr>
          <a:xfrm>
            <a:off x="6096000" y="5697330"/>
            <a:ext cx="539923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Схема </a:t>
            </a:r>
            <a:r>
              <a:rPr lang="ru-RU" dirty="0" err="1"/>
              <a:t>агрегації</a:t>
            </a:r>
            <a:r>
              <a:rPr lang="ru-RU" dirty="0"/>
              <a:t> </a:t>
            </a:r>
            <a:r>
              <a:rPr lang="ru-RU" dirty="0" err="1"/>
              <a:t>реляційних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у структуру </a:t>
            </a:r>
            <a:r>
              <a:rPr lang="ru-RU" dirty="0" err="1"/>
              <a:t>Key-Value</a:t>
            </a:r>
            <a:r>
              <a:rPr lang="ru-RU" dirty="0"/>
              <a:t> Redis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58792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568E78-EAEC-4212-B7C9-94FD389D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42" y="110965"/>
            <a:ext cx="11360800" cy="1108400"/>
          </a:xfrm>
        </p:spPr>
        <p:txBody>
          <a:bodyPr/>
          <a:lstStyle/>
          <a:p>
            <a:pPr algn="ctr"/>
            <a:r>
              <a:rPr lang="uk-UA" dirty="0"/>
              <a:t>Архітектура програмної системи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103817-7C58-4901-A410-1E3A4F79F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758" y="1995583"/>
            <a:ext cx="3600000" cy="3624694"/>
          </a:xfrm>
        </p:spPr>
        <p:txBody>
          <a:bodyPr>
            <a:normAutofit/>
          </a:bodyPr>
          <a:lstStyle/>
          <a:p>
            <a:pPr marL="152396" indent="0">
              <a:buNone/>
            </a:pPr>
            <a:r>
              <a:rPr lang="uk-UA" sz="1600" b="1" dirty="0"/>
              <a:t>Платформа та технологічний стек: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sz="1600" dirty="0"/>
              <a:t>Базова екосистема: .</a:t>
            </a:r>
            <a:r>
              <a:rPr lang="en-US" sz="1600" dirty="0"/>
              <a:t>NET (C#) </a:t>
            </a:r>
            <a:r>
              <a:rPr lang="uk-UA" sz="1600" dirty="0"/>
              <a:t>та високопродуктивний </a:t>
            </a:r>
            <a:r>
              <a:rPr lang="en-US" sz="1600" dirty="0"/>
              <a:t>ASP.NET Core Web API</a:t>
            </a:r>
            <a:endParaRPr lang="uk-UA" sz="1600" dirty="0"/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sz="1600" dirty="0"/>
              <a:t>Доступ до даних: </a:t>
            </a:r>
            <a:r>
              <a:rPr lang="en-US" sz="1600" dirty="0"/>
              <a:t>ORM Entity Framework Core (</a:t>
            </a:r>
            <a:r>
              <a:rPr lang="uk-UA" sz="1600" dirty="0"/>
              <a:t>для </a:t>
            </a:r>
            <a:r>
              <a:rPr lang="en-US" sz="1600" dirty="0"/>
              <a:t>MS SQL), </a:t>
            </a:r>
            <a:r>
              <a:rPr lang="uk-UA" sz="1600" dirty="0" err="1"/>
              <a:t>низькорівневі</a:t>
            </a:r>
            <a:r>
              <a:rPr lang="uk-UA" sz="1600" dirty="0"/>
              <a:t> </a:t>
            </a:r>
            <a:r>
              <a:rPr lang="en-US" sz="1600" dirty="0" err="1"/>
              <a:t>MongoDB.Driver</a:t>
            </a:r>
            <a:r>
              <a:rPr lang="en-US" sz="1600" dirty="0"/>
              <a:t> </a:t>
            </a:r>
            <a:r>
              <a:rPr lang="uk-UA" sz="1600" dirty="0"/>
              <a:t>та </a:t>
            </a:r>
            <a:r>
              <a:rPr lang="en-US" sz="1600" dirty="0" err="1"/>
              <a:t>StackExchange.Redis</a:t>
            </a:r>
            <a:r>
              <a:rPr lang="en-US" sz="1600" dirty="0"/>
              <a:t> </a:t>
            </a:r>
            <a:r>
              <a:rPr lang="uk-UA" sz="1600" dirty="0"/>
              <a:t>для мінімізації накладних витрат</a:t>
            </a:r>
          </a:p>
        </p:txBody>
      </p:sp>
      <p:pic>
        <p:nvPicPr>
          <p:cNvPr id="4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4E1969EE-FB4B-4210-9F01-B49ABDA46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Текст 2">
            <a:extLst>
              <a:ext uri="{FF2B5EF4-FFF2-40B4-BE49-F238E27FC236}">
                <a16:creationId xmlns:a16="http://schemas.microsoft.com/office/drawing/2014/main" id="{45C9273D-F6BC-44BD-96AB-5E8BD0147E61}"/>
              </a:ext>
            </a:extLst>
          </p:cNvPr>
          <p:cNvSpPr txBox="1">
            <a:spLocks/>
          </p:cNvSpPr>
          <p:nvPr/>
        </p:nvSpPr>
        <p:spPr>
          <a:xfrm>
            <a:off x="4296000" y="1995583"/>
            <a:ext cx="3600000" cy="3624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marR="0" lvl="1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marR="0" lvl="2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marR="0" lvl="3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marR="0" lvl="4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marR="0" lvl="5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marR="0" lvl="6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marR="0" lvl="7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marR="0" lvl="8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52396" indent="0">
              <a:buNone/>
            </a:pPr>
            <a:r>
              <a:rPr lang="uk-UA" sz="1600" b="1" dirty="0"/>
              <a:t>Архітектурні </a:t>
            </a:r>
            <a:r>
              <a:rPr lang="uk-UA" sz="1600" b="1" dirty="0" err="1"/>
              <a:t>патерни</a:t>
            </a:r>
            <a:r>
              <a:rPr lang="uk-UA" sz="1600" b="1" dirty="0"/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sz="1600" dirty="0" err="1"/>
              <a:t>Клієнт-серверна</a:t>
            </a:r>
            <a:r>
              <a:rPr lang="ru-RU" sz="1600" dirty="0"/>
              <a:t> модель </a:t>
            </a:r>
            <a:r>
              <a:rPr lang="ru-RU" sz="1600" dirty="0" err="1"/>
              <a:t>із</a:t>
            </a:r>
            <a:r>
              <a:rPr lang="ru-RU" sz="1600" dirty="0"/>
              <a:t> </a:t>
            </a:r>
            <a:r>
              <a:rPr lang="ru-RU" sz="1600" dirty="0" err="1"/>
              <a:t>застосуванням</a:t>
            </a:r>
            <a:r>
              <a:rPr lang="ru-RU" sz="1600" dirty="0"/>
              <a:t> </a:t>
            </a:r>
            <a:r>
              <a:rPr lang="ru-RU" sz="1600" dirty="0" err="1"/>
              <a:t>принципів</a:t>
            </a:r>
            <a:r>
              <a:rPr lang="ru-RU" sz="1600" dirty="0"/>
              <a:t> «</a:t>
            </a:r>
            <a:r>
              <a:rPr lang="ru-RU" sz="1600" dirty="0" err="1"/>
              <a:t>чистої</a:t>
            </a:r>
            <a:r>
              <a:rPr lang="ru-RU" sz="1600" dirty="0"/>
              <a:t> </a:t>
            </a:r>
            <a:r>
              <a:rPr lang="ru-RU" sz="1600" dirty="0" err="1"/>
              <a:t>архітектури</a:t>
            </a:r>
            <a:r>
              <a:rPr lang="ru-RU" sz="1600" dirty="0"/>
              <a:t>»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sz="1600" dirty="0" err="1"/>
              <a:t>Використання</a:t>
            </a:r>
            <a:r>
              <a:rPr lang="ru-RU" sz="1600" dirty="0"/>
              <a:t> </a:t>
            </a:r>
            <a:r>
              <a:rPr lang="ru-RU" sz="1600" dirty="0" err="1"/>
              <a:t>підходу</a:t>
            </a:r>
            <a:r>
              <a:rPr lang="ru-RU" sz="1600" dirty="0"/>
              <a:t> CQRS: </a:t>
            </a:r>
            <a:r>
              <a:rPr lang="ru-RU" sz="1600" dirty="0" err="1"/>
              <a:t>запити</a:t>
            </a:r>
            <a:r>
              <a:rPr lang="ru-RU" sz="1600" dirty="0"/>
              <a:t> на </a:t>
            </a:r>
            <a:r>
              <a:rPr lang="ru-RU" sz="1600" dirty="0" err="1"/>
              <a:t>читання</a:t>
            </a:r>
            <a:r>
              <a:rPr lang="ru-RU" sz="1600" dirty="0"/>
              <a:t> каталогу </a:t>
            </a:r>
            <a:r>
              <a:rPr lang="ru-RU" sz="1600" dirty="0" err="1"/>
              <a:t>транслюються</a:t>
            </a:r>
            <a:r>
              <a:rPr lang="ru-RU" sz="1600" dirty="0"/>
              <a:t> у NoSQL, а транзакційні </a:t>
            </a:r>
            <a:r>
              <a:rPr lang="ru-RU" sz="1600" dirty="0" err="1"/>
              <a:t>операції</a:t>
            </a:r>
            <a:r>
              <a:rPr lang="ru-RU" sz="1600" dirty="0"/>
              <a:t> </a:t>
            </a:r>
            <a:r>
              <a:rPr lang="ru-RU" sz="1600" dirty="0" err="1"/>
              <a:t>делегуються</a:t>
            </a:r>
            <a:r>
              <a:rPr lang="ru-RU" sz="1600" dirty="0"/>
              <a:t> у MS SQL</a:t>
            </a:r>
            <a:endParaRPr lang="uk-UA" sz="1600" dirty="0"/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0EC63FFD-BB81-4257-9299-751BB1775BD1}"/>
              </a:ext>
            </a:extLst>
          </p:cNvPr>
          <p:cNvSpPr txBox="1">
            <a:spLocks/>
          </p:cNvSpPr>
          <p:nvPr/>
        </p:nvSpPr>
        <p:spPr>
          <a:xfrm>
            <a:off x="8267242" y="1991691"/>
            <a:ext cx="3600000" cy="3624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marR="0" lvl="1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marR="0" lvl="2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marR="0" lvl="3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marR="0" lvl="4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marR="0" lvl="5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marR="0" lvl="6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marR="0" lvl="7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marR="0" lvl="8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52396" indent="0">
              <a:buNone/>
            </a:pPr>
            <a:r>
              <a:rPr lang="ru-RU" sz="1600" b="1" dirty="0" err="1"/>
              <a:t>Ключове</a:t>
            </a:r>
            <a:r>
              <a:rPr lang="ru-RU" sz="1600" b="1" dirty="0"/>
              <a:t> </a:t>
            </a:r>
            <a:r>
              <a:rPr lang="ru-RU" sz="1600" b="1" dirty="0" err="1"/>
              <a:t>рішення</a:t>
            </a:r>
            <a:r>
              <a:rPr lang="ru-RU" sz="1600" b="1" dirty="0"/>
              <a:t> для </a:t>
            </a:r>
            <a:r>
              <a:rPr lang="ru-RU" sz="1600" b="1" dirty="0" err="1"/>
              <a:t>чистоти</a:t>
            </a:r>
            <a:r>
              <a:rPr lang="ru-RU" sz="1600" b="1" dirty="0"/>
              <a:t> </a:t>
            </a:r>
            <a:r>
              <a:rPr lang="ru-RU" sz="1600" b="1" dirty="0" err="1"/>
              <a:t>експериментів</a:t>
            </a:r>
            <a:r>
              <a:rPr lang="uk-UA" sz="1600" b="1" dirty="0"/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sz="1600" dirty="0"/>
              <a:t>Застосування </a:t>
            </a:r>
            <a:r>
              <a:rPr lang="uk-UA" sz="1600" dirty="0" err="1"/>
              <a:t>патерну</a:t>
            </a:r>
            <a:r>
              <a:rPr lang="uk-UA" sz="1600" dirty="0"/>
              <a:t> </a:t>
            </a:r>
            <a:r>
              <a:rPr lang="en-US" sz="1600" dirty="0"/>
              <a:t>Repository </a:t>
            </a:r>
            <a:r>
              <a:rPr lang="uk-UA" sz="1600" dirty="0"/>
              <a:t>у поєднанні з </a:t>
            </a:r>
            <a:r>
              <a:rPr lang="en-US" sz="1600" dirty="0"/>
              <a:t>Dependency Injection</a:t>
            </a:r>
            <a:endParaRPr lang="uk-UA" sz="1600" dirty="0"/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sz="1600" dirty="0"/>
              <a:t>Запроваджено єдині абстрактні інтерфейси, які мають змінні реалізації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sz="1600" dirty="0"/>
              <a:t>Шар </a:t>
            </a:r>
            <a:r>
              <a:rPr lang="ru-RU" sz="1600" dirty="0" err="1"/>
              <a:t>бізнес-логіки</a:t>
            </a:r>
            <a:r>
              <a:rPr lang="ru-RU" sz="1600" dirty="0"/>
              <a:t> та </a:t>
            </a:r>
            <a:r>
              <a:rPr lang="ru-RU" sz="1600" dirty="0" err="1"/>
              <a:t>контролери</a:t>
            </a:r>
            <a:r>
              <a:rPr lang="ru-RU" sz="1600" dirty="0"/>
              <a:t> API </a:t>
            </a:r>
            <a:r>
              <a:rPr lang="ru-RU" sz="1600" dirty="0" err="1"/>
              <a:t>залишаються</a:t>
            </a:r>
            <a:r>
              <a:rPr lang="ru-RU" sz="1600" dirty="0"/>
              <a:t> абсолютно </a:t>
            </a:r>
            <a:r>
              <a:rPr lang="ru-RU" sz="1600" dirty="0" err="1"/>
              <a:t>незмінними</a:t>
            </a:r>
            <a:r>
              <a:rPr lang="ru-RU" sz="1600" dirty="0"/>
              <a:t> для </a:t>
            </a:r>
            <a:r>
              <a:rPr lang="ru-RU" sz="1600" dirty="0" err="1"/>
              <a:t>обох</a:t>
            </a:r>
            <a:r>
              <a:rPr lang="ru-RU" sz="1600" dirty="0"/>
              <a:t> </a:t>
            </a:r>
            <a:r>
              <a:rPr lang="ru-RU" sz="1600" dirty="0" err="1"/>
              <a:t>експериментів</a:t>
            </a:r>
            <a:endParaRPr lang="uk-UA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4DD7B2-6FCF-41D0-84FE-884F2AF3967E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9</a:t>
            </a:fld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264133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78E9FA-C96F-4E59-A62B-87AD25B38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54535"/>
            <a:ext cx="11360800" cy="683667"/>
          </a:xfrm>
        </p:spPr>
        <p:txBody>
          <a:bodyPr>
            <a:normAutofit fontScale="90000"/>
          </a:bodyPr>
          <a:lstStyle/>
          <a:p>
            <a:r>
              <a:rPr lang="uk-UA" sz="40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Планування експериментального дослідження</a:t>
            </a:r>
            <a:endParaRPr lang="uk-UA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E03A7F77-C9EC-4B63-9732-3747A23E225B}"/>
              </a:ext>
            </a:extLst>
          </p:cNvPr>
          <p:cNvSpPr txBox="1">
            <a:spLocks/>
          </p:cNvSpPr>
          <p:nvPr/>
        </p:nvSpPr>
        <p:spPr>
          <a:xfrm>
            <a:off x="216308" y="1603527"/>
            <a:ext cx="5352739" cy="378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marR="0" lvl="1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marR="0" lvl="2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marR="0" lvl="3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marR="0" lvl="4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marR="0" lvl="5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marR="0" lvl="6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marR="0" lvl="7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marR="0" lvl="8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52396" indent="0">
              <a:buNone/>
            </a:pPr>
            <a:r>
              <a:rPr lang="uk-UA" sz="1600" b="1" dirty="0"/>
              <a:t>Для оцінки продуктивності каталогу обрано показники: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sz="1600" dirty="0"/>
              <a:t>час затримки при виконанні запитів читання за фільтрами та категоріями (</a:t>
            </a:r>
            <a:r>
              <a:rPr lang="ru-RU" sz="1600" dirty="0" err="1"/>
              <a:t>ms</a:t>
            </a:r>
            <a:r>
              <a:rPr lang="uk-UA" sz="1600" dirty="0"/>
              <a:t>);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sz="1600" dirty="0"/>
              <a:t>Час затримки при виконанні операцій запису та оновлення атрибутів товарів (</a:t>
            </a:r>
            <a:r>
              <a:rPr lang="ru-RU" sz="1600" dirty="0" err="1"/>
              <a:t>ms</a:t>
            </a:r>
            <a:r>
              <a:rPr lang="uk-UA" sz="1600" dirty="0"/>
              <a:t>);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sz="1600" dirty="0"/>
              <a:t>пропускна здатність системи (кількість оброблених запитів/секунду);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sz="1600" dirty="0"/>
              <a:t>затримка синхронізації та рівень узгодженості даних (кількість синхронізованих запитів/ кількість несинхронізованих запитів).</a:t>
            </a:r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129EA823-4A6C-413B-902D-ADB3256E73F7}"/>
              </a:ext>
            </a:extLst>
          </p:cNvPr>
          <p:cNvSpPr txBox="1">
            <a:spLocks/>
          </p:cNvSpPr>
          <p:nvPr/>
        </p:nvSpPr>
        <p:spPr>
          <a:xfrm>
            <a:off x="6096000" y="1603526"/>
            <a:ext cx="5352739" cy="3585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marR="0" lvl="1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marR="0" lvl="2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marR="0" lvl="3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marR="0" lvl="4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marR="0" lvl="5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marR="0" lvl="6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marR="0" lvl="7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marR="0" lvl="8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52396" indent="0">
              <a:buNone/>
            </a:pPr>
            <a:r>
              <a:rPr lang="uk-UA" sz="1600" b="1" dirty="0"/>
              <a:t>Для аналізу ефективності використання ресурсів розглянуто: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sz="1600" dirty="0"/>
              <a:t>завантаженість процесора під час виконання інтенсивних операцій читання та запису (відсоток використаних логічних </a:t>
            </a:r>
            <a:r>
              <a:rPr lang="uk-UA" sz="1600" dirty="0" err="1"/>
              <a:t>ядер</a:t>
            </a:r>
            <a:r>
              <a:rPr lang="uk-UA" sz="1600" dirty="0"/>
              <a:t>);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sz="1600" dirty="0"/>
              <a:t>споживання</a:t>
            </a:r>
            <a:r>
              <a:rPr lang="ru-RU" sz="1600" dirty="0"/>
              <a:t> </a:t>
            </a:r>
            <a:r>
              <a:rPr lang="uk-UA" sz="1600" dirty="0"/>
              <a:t>оперативної пам’яті (RAM) під час типових запитів (</a:t>
            </a:r>
            <a:r>
              <a:rPr lang="en-US" sz="1600" dirty="0" err="1"/>
              <a:t>MiB</a:t>
            </a:r>
            <a:r>
              <a:rPr lang="uk-UA" sz="1600" dirty="0"/>
              <a:t>);</a:t>
            </a:r>
            <a:endParaRPr lang="ru-RU" sz="1600" dirty="0"/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sz="1600" dirty="0"/>
              <a:t>розмір бази даних на диску (</a:t>
            </a:r>
            <a:r>
              <a:rPr lang="en-US" sz="1600" dirty="0"/>
              <a:t>MB</a:t>
            </a:r>
            <a:r>
              <a:rPr lang="uk-UA" sz="1600" dirty="0"/>
              <a:t>)</a:t>
            </a:r>
            <a:r>
              <a:rPr lang="ru-RU" sz="1600" dirty="0"/>
              <a:t>.</a:t>
            </a:r>
            <a:endParaRPr lang="uk-UA" sz="1600" dirty="0"/>
          </a:p>
          <a:p>
            <a:pPr>
              <a:buFontTx/>
              <a:buChar char="-"/>
            </a:pPr>
            <a:endParaRPr lang="uk-UA" sz="1600" dirty="0"/>
          </a:p>
        </p:txBody>
      </p:sp>
      <p:pic>
        <p:nvPicPr>
          <p:cNvPr id="6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1CABDCF8-EC97-4EF0-A98F-7EF1B83E7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490D4-93BB-4694-B552-1B0CBE498BBA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10</a:t>
            </a:fld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174943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22AA86-D66C-4906-87B1-F84D9AB2C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0"/>
            <a:ext cx="11360800" cy="1108400"/>
          </a:xfrm>
        </p:spPr>
        <p:txBody>
          <a:bodyPr/>
          <a:lstStyle/>
          <a:p>
            <a:r>
              <a:rPr lang="uk-UA" dirty="0"/>
              <a:t>Запити для експериментального дослідження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29310A5-7789-4C35-96D8-AF122B9FE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146184"/>
              </p:ext>
            </p:extLst>
          </p:nvPr>
        </p:nvGraphicFramePr>
        <p:xfrm>
          <a:off x="1038225" y="1978529"/>
          <a:ext cx="2898450" cy="36417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98450">
                  <a:extLst>
                    <a:ext uri="{9D8B030D-6E8A-4147-A177-3AD203B41FA5}">
                      <a16:colId xmlns:a16="http://schemas.microsoft.com/office/drawing/2014/main" val="512826400"/>
                    </a:ext>
                  </a:extLst>
                </a:gridCol>
              </a:tblGrid>
              <a:tr h="429425">
                <a:tc>
                  <a:txBody>
                    <a:bodyPr/>
                    <a:lstStyle/>
                    <a:p>
                      <a:pPr algn="ctr"/>
                      <a:r>
                        <a:rPr lang="uk-UA" sz="1400" dirty="0"/>
                        <a:t>Операції читання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9511875"/>
                  </a:ext>
                </a:extLst>
              </a:tr>
              <a:tr h="1356314">
                <a:tc>
                  <a:txBody>
                    <a:bodyPr/>
                    <a:lstStyle/>
                    <a:p>
                      <a:r>
                        <a:rPr lang="uk-UA" sz="1400" b="1" dirty="0"/>
                        <a:t>Отримання товару за ідентифікатором </a:t>
                      </a:r>
                      <a:r>
                        <a:rPr lang="uk-UA" sz="1400" b="0" dirty="0"/>
                        <a:t>для</a:t>
                      </a:r>
                      <a:r>
                        <a:rPr lang="uk-UA" sz="1400" dirty="0"/>
                        <a:t> перевірки ефективності прямого </a:t>
                      </a:r>
                      <a:r>
                        <a:rPr lang="en-US" sz="1400" dirty="0"/>
                        <a:t>key-value </a:t>
                      </a:r>
                      <a:r>
                        <a:rPr lang="uk-UA" sz="1400" dirty="0"/>
                        <a:t>доступу в </a:t>
                      </a:r>
                      <a:r>
                        <a:rPr lang="en-US" sz="1400" dirty="0"/>
                        <a:t>Redis </a:t>
                      </a:r>
                      <a:r>
                        <a:rPr lang="uk-UA" sz="1400" dirty="0"/>
                        <a:t>проти індексного пошуку в </a:t>
                      </a:r>
                      <a:r>
                        <a:rPr lang="en-US" sz="1400" dirty="0"/>
                        <a:t>MongoDB.</a:t>
                      </a:r>
                      <a:endParaRPr lang="uk-U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609989"/>
                  </a:ext>
                </a:extLst>
              </a:tr>
              <a:tr h="1856009">
                <a:tc>
                  <a:txBody>
                    <a:bodyPr/>
                    <a:lstStyle/>
                    <a:p>
                      <a:r>
                        <a:rPr lang="uk-UA" sz="1400" b="1" dirty="0"/>
                        <a:t>Багатокритеріальний пошук з пагінацією </a:t>
                      </a:r>
                      <a:r>
                        <a:rPr lang="uk-UA" sz="1400" b="0" dirty="0"/>
                        <a:t>для</a:t>
                      </a:r>
                      <a:r>
                        <a:rPr lang="uk-UA" sz="1400" dirty="0"/>
                        <a:t> оцінки швидкодії перетину інвертованих індексів у пам'яті (</a:t>
                      </a:r>
                      <a:r>
                        <a:rPr lang="en-US" sz="1400" dirty="0"/>
                        <a:t>Redis) </a:t>
                      </a:r>
                      <a:r>
                        <a:rPr lang="uk-UA" sz="1400" dirty="0"/>
                        <a:t>порівняно з рушієм виконання </a:t>
                      </a:r>
                      <a:r>
                        <a:rPr lang="en-US" sz="1400" dirty="0"/>
                        <a:t>BSON-</a:t>
                      </a:r>
                      <a:r>
                        <a:rPr lang="uk-UA" sz="1400" dirty="0"/>
                        <a:t>фільтрів (</a:t>
                      </a:r>
                      <a:r>
                        <a:rPr lang="en-US" sz="1400" dirty="0"/>
                        <a:t>MongoDB).</a:t>
                      </a:r>
                      <a:endParaRPr lang="uk-U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00660"/>
                  </a:ext>
                </a:extLst>
              </a:tr>
            </a:tbl>
          </a:graphicData>
        </a:graphic>
      </p:graphicFrame>
      <p:pic>
        <p:nvPicPr>
          <p:cNvPr id="10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F2C50325-23AE-4017-B6EE-BE97E1B92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Таблица 4">
            <a:extLst>
              <a:ext uri="{FF2B5EF4-FFF2-40B4-BE49-F238E27FC236}">
                <a16:creationId xmlns:a16="http://schemas.microsoft.com/office/drawing/2014/main" id="{AC99C6E4-7C03-42EF-AE4E-0B3987A56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462774"/>
              </p:ext>
            </p:extLst>
          </p:nvPr>
        </p:nvGraphicFramePr>
        <p:xfrm>
          <a:off x="4646775" y="1978528"/>
          <a:ext cx="2898450" cy="364174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98450">
                  <a:extLst>
                    <a:ext uri="{9D8B030D-6E8A-4147-A177-3AD203B41FA5}">
                      <a16:colId xmlns:a16="http://schemas.microsoft.com/office/drawing/2014/main" val="512826400"/>
                    </a:ext>
                  </a:extLst>
                </a:gridCol>
              </a:tblGrid>
              <a:tr h="497718">
                <a:tc>
                  <a:txBody>
                    <a:bodyPr/>
                    <a:lstStyle/>
                    <a:p>
                      <a:pPr algn="ctr"/>
                      <a:r>
                        <a:rPr lang="uk-UA" sz="1400" dirty="0"/>
                        <a:t>Операції запису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9511875"/>
                  </a:ext>
                </a:extLst>
              </a:tr>
              <a:tr h="992851">
                <a:tc>
                  <a:txBody>
                    <a:bodyPr/>
                    <a:lstStyle/>
                    <a:p>
                      <a:r>
                        <a:rPr lang="ru-RU" sz="1400" b="1" dirty="0" err="1"/>
                        <a:t>Створення</a:t>
                      </a:r>
                      <a:r>
                        <a:rPr lang="ru-RU" sz="1400" b="1" dirty="0"/>
                        <a:t> нового товару </a:t>
                      </a:r>
                      <a:r>
                        <a:rPr lang="ru-RU" sz="1400" b="0" dirty="0"/>
                        <a:t>для </a:t>
                      </a:r>
                      <a:r>
                        <a:rPr lang="ru-RU" sz="1400" dirty="0" err="1"/>
                        <a:t>вимірювання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швидкості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первинної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денормалізації</a:t>
                      </a:r>
                      <a:r>
                        <a:rPr lang="ru-RU" sz="1400" dirty="0"/>
                        <a:t>.</a:t>
                      </a:r>
                      <a:endParaRPr lang="uk-U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609989"/>
                  </a:ext>
                </a:extLst>
              </a:tr>
              <a:tr h="2151178">
                <a:tc>
                  <a:txBody>
                    <a:bodyPr/>
                    <a:lstStyle/>
                    <a:p>
                      <a:r>
                        <a:rPr lang="ru-RU" sz="1400" b="1" dirty="0" err="1"/>
                        <a:t>Часткове</a:t>
                      </a:r>
                      <a:r>
                        <a:rPr lang="ru-RU" sz="1400" b="1" dirty="0"/>
                        <a:t> </a:t>
                      </a:r>
                      <a:r>
                        <a:rPr lang="ru-RU" sz="1400" b="1" dirty="0" err="1"/>
                        <a:t>оновлення</a:t>
                      </a:r>
                      <a:r>
                        <a:rPr lang="ru-RU" sz="1400" b="1" dirty="0"/>
                        <a:t> </a:t>
                      </a:r>
                      <a:r>
                        <a:rPr lang="ru-RU" sz="1400" b="1" dirty="0" err="1"/>
                        <a:t>атрибутів</a:t>
                      </a:r>
                      <a:r>
                        <a:rPr lang="ru-RU" sz="1400" b="1" dirty="0"/>
                        <a:t> </a:t>
                      </a:r>
                      <a:r>
                        <a:rPr lang="ru-RU" sz="1400" b="0" dirty="0"/>
                        <a:t>для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тестування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ефективності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модифікації</a:t>
                      </a:r>
                      <a:r>
                        <a:rPr lang="ru-RU" sz="1400" dirty="0"/>
                        <a:t> великих JSON/BSON структур за </a:t>
                      </a:r>
                      <a:r>
                        <a:rPr lang="ru-RU" sz="1400" dirty="0" err="1"/>
                        <a:t>допомогою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вбудованих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атомарних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операторів</a:t>
                      </a:r>
                      <a:r>
                        <a:rPr lang="ru-RU" sz="1400" dirty="0"/>
                        <a:t> баз </a:t>
                      </a:r>
                      <a:r>
                        <a:rPr lang="ru-RU" sz="1400" dirty="0" err="1"/>
                        <a:t>даних</a:t>
                      </a:r>
                      <a:r>
                        <a:rPr lang="ru-RU" sz="1400" dirty="0"/>
                        <a:t>.</a:t>
                      </a:r>
                      <a:endParaRPr lang="uk-U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00660"/>
                  </a:ext>
                </a:extLst>
              </a:tr>
            </a:tbl>
          </a:graphicData>
        </a:graphic>
      </p:graphicFrame>
      <p:graphicFrame>
        <p:nvGraphicFramePr>
          <p:cNvPr id="14" name="Таблица 4">
            <a:extLst>
              <a:ext uri="{FF2B5EF4-FFF2-40B4-BE49-F238E27FC236}">
                <a16:creationId xmlns:a16="http://schemas.microsoft.com/office/drawing/2014/main" id="{3D7B530C-4943-4861-A0A4-ADE293C27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13965"/>
              </p:ext>
            </p:extLst>
          </p:nvPr>
        </p:nvGraphicFramePr>
        <p:xfrm>
          <a:off x="8255325" y="1978529"/>
          <a:ext cx="2898450" cy="364174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98450">
                  <a:extLst>
                    <a:ext uri="{9D8B030D-6E8A-4147-A177-3AD203B41FA5}">
                      <a16:colId xmlns:a16="http://schemas.microsoft.com/office/drawing/2014/main" val="512826400"/>
                    </a:ext>
                  </a:extLst>
                </a:gridCol>
              </a:tblGrid>
              <a:tr h="4849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Eventual Consistency</a:t>
                      </a:r>
                      <a:endParaRPr lang="uk-UA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9511875"/>
                  </a:ext>
                </a:extLst>
              </a:tr>
              <a:tr h="1087349">
                <a:tc>
                  <a:txBody>
                    <a:bodyPr/>
                    <a:lstStyle/>
                    <a:p>
                      <a:r>
                        <a:rPr lang="uk-UA" sz="1400" b="1" dirty="0"/>
                        <a:t>Оновлення сутності-довідника </a:t>
                      </a:r>
                      <a:r>
                        <a:rPr lang="uk-UA" sz="1400" b="0" dirty="0"/>
                        <a:t>через</a:t>
                      </a:r>
                      <a:r>
                        <a:rPr lang="uk-UA" sz="1400" dirty="0"/>
                        <a:t> генерування події через </a:t>
                      </a:r>
                      <a:r>
                        <a:rPr lang="en-US" sz="1400" dirty="0"/>
                        <a:t>in-memory </a:t>
                      </a:r>
                      <a:r>
                        <a:rPr lang="uk-UA" sz="1400" dirty="0"/>
                        <a:t>шину при зміні базової сутності.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609989"/>
                  </a:ext>
                </a:extLst>
              </a:tr>
              <a:tr h="2069471">
                <a:tc>
                  <a:txBody>
                    <a:bodyPr/>
                    <a:lstStyle/>
                    <a:p>
                      <a:r>
                        <a:rPr lang="ru-RU" sz="1400" b="1" dirty="0" err="1"/>
                        <a:t>Фонова</a:t>
                      </a:r>
                      <a:r>
                        <a:rPr lang="ru-RU" sz="1400" b="1" dirty="0"/>
                        <a:t> </a:t>
                      </a:r>
                      <a:r>
                        <a:rPr lang="ru-RU" sz="1400" b="1" dirty="0" err="1"/>
                        <a:t>синхронізація</a:t>
                      </a:r>
                      <a:r>
                        <a:rPr lang="ru-RU" sz="1400" b="1" dirty="0"/>
                        <a:t>:</a:t>
                      </a:r>
                      <a:r>
                        <a:rPr lang="ru-RU" sz="1400" dirty="0"/>
                        <a:t> у MongoDB </a:t>
                      </a:r>
                      <a:r>
                        <a:rPr lang="ru-RU" sz="1400" dirty="0" err="1"/>
                        <a:t>виконується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фонове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сканування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колекції</a:t>
                      </a:r>
                      <a:r>
                        <a:rPr lang="ru-RU" sz="1400" dirty="0"/>
                        <a:t> для каскадного </a:t>
                      </a:r>
                      <a:r>
                        <a:rPr lang="ru-RU" sz="1400" dirty="0" err="1"/>
                        <a:t>оновлення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тоді</a:t>
                      </a:r>
                      <a:r>
                        <a:rPr lang="ru-RU" sz="1400" dirty="0"/>
                        <a:t> як Redis </a:t>
                      </a:r>
                      <a:r>
                        <a:rPr lang="ru-RU" sz="1400" dirty="0" err="1"/>
                        <a:t>використовує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інвертований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індекс</a:t>
                      </a:r>
                      <a:r>
                        <a:rPr lang="ru-RU" sz="1400" dirty="0"/>
                        <a:t> для </a:t>
                      </a:r>
                      <a:r>
                        <a:rPr lang="ru-RU" sz="1400" dirty="0" err="1"/>
                        <a:t>точкового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оновлення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кешованих</a:t>
                      </a:r>
                      <a:r>
                        <a:rPr lang="ru-RU" sz="1400" dirty="0"/>
                        <a:t> моделей.</a:t>
                      </a:r>
                      <a:endParaRPr lang="uk-U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0066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7F509F5-2183-416D-AD54-2F408226C26E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11</a:t>
            </a:fld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3566806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24758" y="0"/>
            <a:ext cx="11542484" cy="110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r>
              <a:rPr lang="uk-UA" sz="4000" dirty="0"/>
              <a:t>Організація навантажувального тестування</a:t>
            </a:r>
            <a:endParaRPr sz="4267" dirty="0">
              <a:latin typeface="Economica" panose="020B0604020202020204" charset="0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24758" y="2353630"/>
            <a:ext cx="5016862" cy="331137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55000" lnSpcReduction="20000"/>
          </a:bodyPr>
          <a:lstStyle/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uk-UA" sz="2000" b="1" dirty="0"/>
              <a:t>Технічні деталі:</a:t>
            </a:r>
            <a:endParaRPr lang="en-US" sz="2000" b="1" dirty="0"/>
          </a:p>
          <a:p>
            <a:pPr marL="380990" indent="-38099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sz="2000" dirty="0"/>
              <a:t>Генерація масивів тестових даних реалізована за допомогою бібліотеки </a:t>
            </a:r>
            <a:r>
              <a:rPr lang="en-US" sz="2000" dirty="0"/>
              <a:t>Bogus, </a:t>
            </a:r>
            <a:r>
              <a:rPr lang="uk-UA" sz="2000" dirty="0"/>
              <a:t>де </a:t>
            </a:r>
            <a:r>
              <a:rPr lang="uk-UA" sz="2000" dirty="0" err="1"/>
              <a:t>оркестратор</a:t>
            </a:r>
            <a:r>
              <a:rPr lang="uk-UA" sz="2000" dirty="0"/>
              <a:t> (</a:t>
            </a:r>
            <a:r>
              <a:rPr lang="en-US" sz="2000" dirty="0" err="1"/>
              <a:t>DatabaseSeeder</a:t>
            </a:r>
            <a:r>
              <a:rPr lang="en-US" sz="2000" dirty="0"/>
              <a:t>) </a:t>
            </a:r>
            <a:r>
              <a:rPr lang="uk-UA" sz="2000" dirty="0"/>
              <a:t>послідовно заповнює реляційні таблиці та </a:t>
            </a:r>
            <a:r>
              <a:rPr lang="uk-UA" sz="2000" dirty="0" err="1"/>
              <a:t>денормалізовані</a:t>
            </a:r>
            <a:r>
              <a:rPr lang="uk-UA" sz="2000" dirty="0"/>
              <a:t> документи з дотриманням ієрархії зв'язків</a:t>
            </a:r>
            <a:r>
              <a:rPr lang="uk-UA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80990" indent="-38099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sz="2000" dirty="0"/>
              <a:t>Механізм динамічного корисного навантаження (</a:t>
            </a:r>
            <a:r>
              <a:rPr lang="en-US" sz="2000" dirty="0" err="1"/>
              <a:t>PayloadGenerator</a:t>
            </a:r>
            <a:r>
              <a:rPr lang="en-US" sz="2000" dirty="0"/>
              <a:t>) </a:t>
            </a:r>
            <a:r>
              <a:rPr lang="uk-UA" sz="2000" dirty="0"/>
              <a:t>генерує унікальні параметри фільтрації та тіла запитів для уникнення штучної оптимізації операцій на рівні кешу СКБД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0990" indent="-38099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sz="2000" dirty="0"/>
              <a:t>Сценарії тестування в </a:t>
            </a:r>
            <a:r>
              <a:rPr lang="uk-UA" sz="2000" dirty="0" err="1"/>
              <a:t>NBomber</a:t>
            </a:r>
            <a:r>
              <a:rPr lang="uk-UA" sz="2000" dirty="0"/>
              <a:t> налаштовано з урахуванням етапу поступового розігріву системи для запобігання ефекту холодного старту перед фазою стабільного збору метрик</a:t>
            </a:r>
            <a:r>
              <a:rPr lang="en-US" sz="2000" dirty="0"/>
              <a:t>;</a:t>
            </a:r>
          </a:p>
          <a:p>
            <a:pPr marL="380990" indent="-38099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uk-UA" sz="2000" dirty="0"/>
              <a:t>Збір телеметрії</a:t>
            </a:r>
            <a:r>
              <a:rPr lang="en-US" sz="2000" dirty="0"/>
              <a:t> </a:t>
            </a:r>
            <a:r>
              <a:rPr lang="uk-UA" sz="2000" dirty="0"/>
              <a:t>здійснюється через експортери </a:t>
            </a:r>
            <a:r>
              <a:rPr lang="en-US" sz="2000" dirty="0"/>
              <a:t>Prometheus, </a:t>
            </a:r>
            <a:r>
              <a:rPr lang="uk-UA" sz="2000" dirty="0"/>
              <a:t>а візуалізація та порівняння часових рядів реалізована через адаптовані </a:t>
            </a:r>
            <a:r>
              <a:rPr lang="uk-UA" sz="2000" dirty="0" err="1"/>
              <a:t>дашборди</a:t>
            </a:r>
            <a:r>
              <a:rPr lang="uk-UA" sz="2000" dirty="0"/>
              <a:t> </a:t>
            </a:r>
            <a:r>
              <a:rPr lang="en-US" sz="2000" dirty="0" err="1"/>
              <a:t>Grafan</a:t>
            </a:r>
            <a:r>
              <a:rPr lang="uk-UA" sz="2000" dirty="0"/>
              <a:t>а.</a:t>
            </a:r>
            <a:endParaRPr lang="uk-UA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12</a:t>
            </a:fld>
            <a:endParaRPr lang="uk-UA" sz="2400" dirty="0"/>
          </a:p>
        </p:txBody>
      </p:sp>
      <p:pic>
        <p:nvPicPr>
          <p:cNvPr id="8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3D10DDFC-5590-451C-B047-608F798B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72;p14">
            <a:extLst>
              <a:ext uri="{FF2B5EF4-FFF2-40B4-BE49-F238E27FC236}">
                <a16:creationId xmlns:a16="http://schemas.microsoft.com/office/drawing/2014/main" id="{086E547A-1830-4753-B2E7-21315387ED2B}"/>
              </a:ext>
            </a:extLst>
          </p:cNvPr>
          <p:cNvSpPr txBox="1">
            <a:spLocks/>
          </p:cNvSpPr>
          <p:nvPr/>
        </p:nvSpPr>
        <p:spPr>
          <a:xfrm>
            <a:off x="331915" y="1245230"/>
            <a:ext cx="11542484" cy="1108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marR="0" lvl="1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marR="0" lvl="2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marR="0" lvl="3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marR="0" lvl="4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marR="0" lvl="5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marR="0" lvl="6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marR="0" lvl="7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marR="0" lvl="8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uk-UA" sz="2000" dirty="0"/>
              <a:t>Для симуляції реалістичного користувацького трафіку розроблено ізольовану інфраструктуру тестування з двома консольними застосунками. Перший забезпечує первинне наповнення баз даних. Другий генерує різноманітні профілі навантаження за допомогою фреймворку </a:t>
            </a:r>
            <a:r>
              <a:rPr lang="en-US" sz="2000" dirty="0" err="1"/>
              <a:t>NBomber</a:t>
            </a:r>
            <a:r>
              <a:rPr lang="en-US" sz="2000" dirty="0"/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0935AE-D4F6-4033-A5C5-1ED3586E7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1516" y="2427660"/>
            <a:ext cx="5440680" cy="32373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FF83345-52A4-439F-976B-D611C208D483}"/>
              </a:ext>
            </a:extLst>
          </p:cNvPr>
          <p:cNvSpPr/>
          <p:nvPr/>
        </p:nvSpPr>
        <p:spPr>
          <a:xfrm>
            <a:off x="6348337" y="5665000"/>
            <a:ext cx="48670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Діаграма розгортання навантажувального тестування</a:t>
            </a:r>
            <a:endParaRPr lang="uk-UA" sz="1600" dirty="0"/>
          </a:p>
        </p:txBody>
      </p:sp>
    </p:spTree>
    <p:extLst>
      <p:ext uri="{BB962C8B-B14F-4D97-AF65-F5344CB8AC3E}">
        <p14:creationId xmlns:p14="http://schemas.microsoft.com/office/powerpoint/2010/main" val="1807879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F53754E5-5DFD-4F25-9451-5251DB582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421233"/>
            <a:ext cx="6411920" cy="1108400"/>
          </a:xfrm>
        </p:spPr>
        <p:txBody>
          <a:bodyPr>
            <a:normAutofit/>
          </a:bodyPr>
          <a:lstStyle/>
          <a:p>
            <a:r>
              <a:rPr lang="uk-UA" dirty="0"/>
              <a:t>Методологія тестування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14919B33-E64E-41AE-8FB9-AD5C444C8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633633"/>
            <a:ext cx="6411920" cy="3986644"/>
          </a:xfrm>
          <a:ln>
            <a:noFill/>
          </a:ln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  <a:buFontTx/>
              <a:buChar char="-"/>
            </a:pPr>
            <a:r>
              <a:rPr lang="uk-UA" dirty="0"/>
              <a:t>Кожен сценарій ізольовано для уникнення впливу залишкового системного кешу</a:t>
            </a:r>
            <a:r>
              <a:rPr lang="en-US" dirty="0"/>
              <a:t>. </a:t>
            </a:r>
            <a:endParaRPr lang="uk-UA" dirty="0"/>
          </a:p>
          <a:p>
            <a:pPr>
              <a:lnSpc>
                <a:spcPct val="170000"/>
              </a:lnSpc>
              <a:buFontTx/>
              <a:buChar char="-"/>
            </a:pPr>
            <a:r>
              <a:rPr lang="uk-UA" dirty="0"/>
              <a:t>Процес автоматизовано </a:t>
            </a:r>
            <a:r>
              <a:rPr lang="en-US" dirty="0"/>
              <a:t>PowerShell-</a:t>
            </a:r>
            <a:r>
              <a:rPr lang="uk-UA" dirty="0"/>
              <a:t>скриптом</a:t>
            </a:r>
            <a:r>
              <a:rPr lang="ru-RU" dirty="0"/>
              <a:t>.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ru-RU" dirty="0" err="1"/>
              <a:t>Експерименти</a:t>
            </a:r>
            <a:r>
              <a:rPr lang="ru-RU" dirty="0"/>
              <a:t> проведено на </a:t>
            </a:r>
            <a:r>
              <a:rPr lang="ru-RU" dirty="0" err="1"/>
              <a:t>трьох</a:t>
            </a:r>
            <a:r>
              <a:rPr lang="ru-RU" dirty="0"/>
              <a:t> </a:t>
            </a:r>
            <a:r>
              <a:rPr lang="ru-RU" dirty="0" err="1"/>
              <a:t>вибірках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: </a:t>
            </a:r>
            <a:r>
              <a:rPr lang="ru-RU" dirty="0" err="1"/>
              <a:t>малій</a:t>
            </a:r>
            <a:r>
              <a:rPr lang="ru-RU" dirty="0"/>
              <a:t> (1 000 </a:t>
            </a:r>
            <a:r>
              <a:rPr lang="ru-RU" dirty="0" err="1"/>
              <a:t>продуктів</a:t>
            </a:r>
            <a:r>
              <a:rPr lang="ru-RU" dirty="0"/>
              <a:t>), </a:t>
            </a:r>
            <a:r>
              <a:rPr lang="ru-RU" dirty="0" err="1"/>
              <a:t>середній</a:t>
            </a:r>
            <a:r>
              <a:rPr lang="ru-RU" dirty="0"/>
              <a:t> (10 000 </a:t>
            </a:r>
            <a:r>
              <a:rPr lang="ru-RU" dirty="0" err="1"/>
              <a:t>продуктів</a:t>
            </a:r>
            <a:r>
              <a:rPr lang="ru-RU" dirty="0"/>
              <a:t>) та </a:t>
            </a:r>
            <a:r>
              <a:rPr lang="ru-RU" dirty="0" err="1"/>
              <a:t>великій</a:t>
            </a:r>
            <a:r>
              <a:rPr lang="ru-RU" dirty="0"/>
              <a:t> (100 000 </a:t>
            </a:r>
            <a:r>
              <a:rPr lang="ru-RU" dirty="0" err="1"/>
              <a:t>продуктів</a:t>
            </a:r>
            <a:r>
              <a:rPr lang="ru-RU" dirty="0"/>
              <a:t>). 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uk-UA" dirty="0"/>
              <a:t>СКБД розгорнуті у </a:t>
            </a:r>
            <a:r>
              <a:rPr lang="en-US" dirty="0"/>
              <a:t>Docker </a:t>
            </a:r>
            <a:r>
              <a:rPr lang="uk-UA" dirty="0"/>
              <a:t>з жорсткими лімітами: 4 логічні ядра </a:t>
            </a:r>
            <a:r>
              <a:rPr lang="en-US" dirty="0"/>
              <a:t>CPU </a:t>
            </a:r>
            <a:r>
              <a:rPr lang="uk-UA" dirty="0"/>
              <a:t>та 4 ГБ </a:t>
            </a:r>
            <a:r>
              <a:rPr lang="en-US" dirty="0"/>
              <a:t>RAM </a:t>
            </a:r>
            <a:r>
              <a:rPr lang="uk-UA" dirty="0"/>
              <a:t>на контейнер.</a:t>
            </a:r>
          </a:p>
          <a:p>
            <a:pPr>
              <a:lnSpc>
                <a:spcPct val="170000"/>
              </a:lnSpc>
              <a:buFontTx/>
              <a:buChar char="-"/>
            </a:pPr>
            <a:r>
              <a:rPr lang="uk-UA" dirty="0"/>
              <a:t>Метрики фіксувалися за допомогою </a:t>
            </a:r>
            <a:r>
              <a:rPr lang="en-US" dirty="0" err="1"/>
              <a:t>NBomber</a:t>
            </a:r>
            <a:r>
              <a:rPr lang="en-US" dirty="0"/>
              <a:t> </a:t>
            </a:r>
            <a:r>
              <a:rPr lang="uk-UA" dirty="0"/>
              <a:t>та </a:t>
            </a:r>
            <a:r>
              <a:rPr lang="en-US" dirty="0"/>
              <a:t>Prometheus</a:t>
            </a:r>
            <a:r>
              <a:rPr lang="uk-UA" dirty="0"/>
              <a:t>.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E923E8-5208-4FEC-B733-76ACD41F71C4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13</a:t>
            </a:fld>
            <a:endParaRPr lang="uk-UA" sz="2400" dirty="0"/>
          </a:p>
        </p:txBody>
      </p:sp>
      <p:pic>
        <p:nvPicPr>
          <p:cNvPr id="16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AE52EDF3-2F23-4BD4-AD5C-748526652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lantUML Diagram">
            <a:extLst>
              <a:ext uri="{FF2B5EF4-FFF2-40B4-BE49-F238E27FC236}">
                <a16:creationId xmlns:a16="http://schemas.microsoft.com/office/drawing/2014/main" id="{B62159CF-D325-42F6-B897-BBA007A28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440" y="105625"/>
            <a:ext cx="4948880" cy="64978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4114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81AB6B-D022-4632-8CFB-44D2E8898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631" y="1131037"/>
            <a:ext cx="6428375" cy="21865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Google Shape;71;p14">
            <a:extLst>
              <a:ext uri="{FF2B5EF4-FFF2-40B4-BE49-F238E27FC236}">
                <a16:creationId xmlns:a16="http://schemas.microsoft.com/office/drawing/2014/main" id="{418C0A46-5825-4A7E-B0C7-D7A0727058D4}"/>
              </a:ext>
            </a:extLst>
          </p:cNvPr>
          <p:cNvSpPr txBox="1">
            <a:spLocks/>
          </p:cNvSpPr>
          <p:nvPr/>
        </p:nvSpPr>
        <p:spPr>
          <a:xfrm>
            <a:off x="324758" y="0"/>
            <a:ext cx="11542484" cy="110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4000" dirty="0"/>
              <a:t>Результати експериментів: сценарій </a:t>
            </a:r>
            <a:r>
              <a:rPr lang="en-US" sz="4000" dirty="0"/>
              <a:t>Read-Heavy</a:t>
            </a:r>
            <a:endParaRPr lang="uk-UA" sz="4267" dirty="0">
              <a:latin typeface="Economica" panose="020B0604020202020204" charset="0"/>
            </a:endParaRPr>
          </a:p>
        </p:txBody>
      </p:sp>
      <p:pic>
        <p:nvPicPr>
          <p:cNvPr id="6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D9DA43AC-A7D5-44CA-91EA-BAFFDAEBF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D8B9441-4A60-46A4-8AFA-DD35E90BA0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3631" y="3443239"/>
            <a:ext cx="6411037" cy="2177038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BCE02664-E759-4550-ADF3-530C7C659866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880336688"/>
              </p:ext>
            </p:extLst>
          </p:nvPr>
        </p:nvGraphicFramePr>
        <p:xfrm>
          <a:off x="153419" y="1336374"/>
          <a:ext cx="5309537" cy="4093105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793987">
                  <a:extLst>
                    <a:ext uri="{9D8B030D-6E8A-4147-A177-3AD203B41FA5}">
                      <a16:colId xmlns:a16="http://schemas.microsoft.com/office/drawing/2014/main" val="3572600600"/>
                    </a:ext>
                  </a:extLst>
                </a:gridCol>
                <a:gridCol w="868899">
                  <a:extLst>
                    <a:ext uri="{9D8B030D-6E8A-4147-A177-3AD203B41FA5}">
                      <a16:colId xmlns:a16="http://schemas.microsoft.com/office/drawing/2014/main" val="3762147520"/>
                    </a:ext>
                  </a:extLst>
                </a:gridCol>
                <a:gridCol w="1046953">
                  <a:extLst>
                    <a:ext uri="{9D8B030D-6E8A-4147-A177-3AD203B41FA5}">
                      <a16:colId xmlns:a16="http://schemas.microsoft.com/office/drawing/2014/main" val="2734015427"/>
                    </a:ext>
                  </a:extLst>
                </a:gridCol>
                <a:gridCol w="938770">
                  <a:extLst>
                    <a:ext uri="{9D8B030D-6E8A-4147-A177-3AD203B41FA5}">
                      <a16:colId xmlns:a16="http://schemas.microsoft.com/office/drawing/2014/main" val="2383241042"/>
                    </a:ext>
                  </a:extLst>
                </a:gridCol>
                <a:gridCol w="830464">
                  <a:extLst>
                    <a:ext uri="{9D8B030D-6E8A-4147-A177-3AD203B41FA5}">
                      <a16:colId xmlns:a16="http://schemas.microsoft.com/office/drawing/2014/main" val="4233067997"/>
                    </a:ext>
                  </a:extLst>
                </a:gridCol>
                <a:gridCol w="830464">
                  <a:extLst>
                    <a:ext uri="{9D8B030D-6E8A-4147-A177-3AD203B41FA5}">
                      <a16:colId xmlns:a16="http://schemas.microsoft.com/office/drawing/2014/main" val="2573802737"/>
                    </a:ext>
                  </a:extLst>
                </a:gridCol>
              </a:tblGrid>
              <a:tr h="7784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Розмір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вибірки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Архітектура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Пропускна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здатність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Середня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затримка</a:t>
                      </a:r>
                      <a:r>
                        <a:rPr lang="ru-RU" sz="1200" dirty="0">
                          <a:effectLst/>
                        </a:rPr>
                        <a:t> (</a:t>
                      </a:r>
                      <a:r>
                        <a:rPr lang="ru-RU" sz="1200" dirty="0" err="1">
                          <a:effectLst/>
                        </a:rPr>
                        <a:t>ms</a:t>
                      </a:r>
                      <a:r>
                        <a:rPr lang="ru-RU" sz="1200" dirty="0">
                          <a:effectLst/>
                        </a:rPr>
                        <a:t>)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Перцентиль 95% (</a:t>
                      </a:r>
                      <a:r>
                        <a:rPr lang="ru-RU" sz="1200" dirty="0" err="1">
                          <a:effectLst/>
                        </a:rPr>
                        <a:t>ms</a:t>
                      </a:r>
                      <a:r>
                        <a:rPr lang="ru-RU" sz="1200" dirty="0">
                          <a:effectLst/>
                        </a:rPr>
                        <a:t>)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Перцентиль 99% (ms)</a:t>
                      </a:r>
                      <a:endParaRPr lang="uk-U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9288976"/>
                  </a:ext>
                </a:extLst>
              </a:tr>
              <a:tr h="59160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1 000</a:t>
                      </a:r>
                      <a:endParaRPr lang="uk-U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MSSQL + </a:t>
                      </a:r>
                      <a:r>
                        <a:rPr lang="ru-RU" sz="1200" dirty="0" err="1">
                          <a:effectLst/>
                        </a:rPr>
                        <a:t>MongoDb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2482.35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38.35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62.94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90.94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60877565"/>
                  </a:ext>
                </a:extLst>
              </a:tr>
              <a:tr h="513280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MSSQL + Redis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7833.08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12.15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20.72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53.70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3062698"/>
                  </a:ext>
                </a:extLst>
              </a:tr>
              <a:tr h="59160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10 000</a:t>
                      </a:r>
                      <a:endParaRPr lang="uk-U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MSSQL + </a:t>
                      </a:r>
                      <a:r>
                        <a:rPr lang="ru-RU" sz="1200" dirty="0" err="1">
                          <a:effectLst/>
                        </a:rPr>
                        <a:t>MongoDb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2342.91</a:t>
                      </a:r>
                      <a:endParaRPr lang="uk-U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40.63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65.60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92.22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82581886"/>
                  </a:ext>
                </a:extLst>
              </a:tr>
              <a:tr h="513280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MSSQL + Redis</a:t>
                      </a:r>
                      <a:endParaRPr lang="uk-U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7650.12</a:t>
                      </a:r>
                      <a:endParaRPr lang="uk-U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12.44</a:t>
                      </a:r>
                      <a:endParaRPr lang="uk-U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20.70</a:t>
                      </a:r>
                      <a:endParaRPr lang="uk-U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46.59</a:t>
                      </a:r>
                      <a:endParaRPr lang="uk-U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59973331"/>
                  </a:ext>
                </a:extLst>
              </a:tr>
              <a:tr h="59160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100 000</a:t>
                      </a:r>
                      <a:endParaRPr lang="uk-U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MSSQL + MongoDb</a:t>
                      </a:r>
                      <a:endParaRPr lang="uk-U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1829.73</a:t>
                      </a:r>
                      <a:endParaRPr lang="uk-U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52.03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98.75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118.72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50392312"/>
                  </a:ext>
                </a:extLst>
              </a:tr>
              <a:tr h="513280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MSSQL + Redis</a:t>
                      </a:r>
                      <a:endParaRPr lang="uk-U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4705.08</a:t>
                      </a:r>
                      <a:endParaRPr lang="uk-U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20.23</a:t>
                      </a:r>
                      <a:endParaRPr lang="uk-U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35.20</a:t>
                      </a:r>
                      <a:endParaRPr lang="uk-U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62.62</a:t>
                      </a:r>
                      <a:endParaRPr lang="uk-U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324351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48C1132-0D73-40B7-85B0-BF189E12C499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14</a:t>
            </a:fld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3326414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1;p14">
            <a:extLst>
              <a:ext uri="{FF2B5EF4-FFF2-40B4-BE49-F238E27FC236}">
                <a16:creationId xmlns:a16="http://schemas.microsoft.com/office/drawing/2014/main" id="{418C0A46-5825-4A7E-B0C7-D7A0727058D4}"/>
              </a:ext>
            </a:extLst>
          </p:cNvPr>
          <p:cNvSpPr txBox="1">
            <a:spLocks/>
          </p:cNvSpPr>
          <p:nvPr/>
        </p:nvSpPr>
        <p:spPr>
          <a:xfrm>
            <a:off x="324758" y="0"/>
            <a:ext cx="11542484" cy="110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4000" dirty="0"/>
              <a:t>Результати експериментів: сценарій </a:t>
            </a:r>
            <a:r>
              <a:rPr lang="en-US" sz="4000" dirty="0"/>
              <a:t>Write-Heavy</a:t>
            </a:r>
            <a:endParaRPr lang="uk-UA" sz="4267" dirty="0">
              <a:latin typeface="Economica" panose="020B0604020202020204" charset="0"/>
            </a:endParaRPr>
          </a:p>
        </p:txBody>
      </p:sp>
      <p:pic>
        <p:nvPicPr>
          <p:cNvPr id="6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D9DA43AC-A7D5-44CA-91EA-BAFFDAEBF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34FA79F-E32C-4159-A201-D90D2D604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490331"/>
              </p:ext>
            </p:extLst>
          </p:nvPr>
        </p:nvGraphicFramePr>
        <p:xfrm>
          <a:off x="324758" y="1108400"/>
          <a:ext cx="4997007" cy="4641697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603943">
                  <a:extLst>
                    <a:ext uri="{9D8B030D-6E8A-4147-A177-3AD203B41FA5}">
                      <a16:colId xmlns:a16="http://schemas.microsoft.com/office/drawing/2014/main" val="3991716548"/>
                    </a:ext>
                  </a:extLst>
                </a:gridCol>
                <a:gridCol w="774922">
                  <a:extLst>
                    <a:ext uri="{9D8B030D-6E8A-4147-A177-3AD203B41FA5}">
                      <a16:colId xmlns:a16="http://schemas.microsoft.com/office/drawing/2014/main" val="1449464162"/>
                    </a:ext>
                  </a:extLst>
                </a:gridCol>
                <a:gridCol w="774922">
                  <a:extLst>
                    <a:ext uri="{9D8B030D-6E8A-4147-A177-3AD203B41FA5}">
                      <a16:colId xmlns:a16="http://schemas.microsoft.com/office/drawing/2014/main" val="5830638"/>
                    </a:ext>
                  </a:extLst>
                </a:gridCol>
                <a:gridCol w="893045">
                  <a:extLst>
                    <a:ext uri="{9D8B030D-6E8A-4147-A177-3AD203B41FA5}">
                      <a16:colId xmlns:a16="http://schemas.microsoft.com/office/drawing/2014/main" val="3234730377"/>
                    </a:ext>
                  </a:extLst>
                </a:gridCol>
                <a:gridCol w="893045">
                  <a:extLst>
                    <a:ext uri="{9D8B030D-6E8A-4147-A177-3AD203B41FA5}">
                      <a16:colId xmlns:a16="http://schemas.microsoft.com/office/drawing/2014/main" val="1497376804"/>
                    </a:ext>
                  </a:extLst>
                </a:gridCol>
                <a:gridCol w="528565">
                  <a:extLst>
                    <a:ext uri="{9D8B030D-6E8A-4147-A177-3AD203B41FA5}">
                      <a16:colId xmlns:a16="http://schemas.microsoft.com/office/drawing/2014/main" val="3058348466"/>
                    </a:ext>
                  </a:extLst>
                </a:gridCol>
                <a:gridCol w="528565">
                  <a:extLst>
                    <a:ext uri="{9D8B030D-6E8A-4147-A177-3AD203B41FA5}">
                      <a16:colId xmlns:a16="http://schemas.microsoft.com/office/drawing/2014/main" val="3997229815"/>
                    </a:ext>
                  </a:extLst>
                </a:gridCol>
              </a:tblGrid>
              <a:tr h="3447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Розмір вибірки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</a:rPr>
                        <a:t>Операція</a:t>
                      </a:r>
                      <a:endParaRPr lang="uk-UA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Архітектура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Пропускна здатність 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Середня затримка(ms)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p95(ms)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p99(ms)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1835187774"/>
                  </a:ext>
                </a:extLst>
              </a:tr>
              <a:tr h="343935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1 000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PATCH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MongoDb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604.41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126.01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182.78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214.40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1254653407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POST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MongoDb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155.57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122.39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177.54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208.64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1499565178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PATCH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Redis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1143.37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66.61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99.14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125.25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1910482021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POST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Redis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316.92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60.07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89.28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112.90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1631516017"/>
                  </a:ext>
                </a:extLst>
              </a:tr>
              <a:tr h="343935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10 000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PATCH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MongoDb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613.73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124.09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202.11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256.00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1362586886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POST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MongoDb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159.67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119.24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192.77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242.18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3631486458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PATCH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Redis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1124.99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67.70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97.47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126.08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3904789602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POST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Redis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309.27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61.56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89.41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109.25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522782147"/>
                  </a:ext>
                </a:extLst>
              </a:tr>
              <a:tr h="343935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100 000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PATCH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MongoDb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577.87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131.80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212.10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261.50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1303371731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POST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MongoDb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149.77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127.13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203.39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251.39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2995323633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PATCH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Redis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842.09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90.44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130.37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156.93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2043972716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POST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Redis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226.76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83.95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125.18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152.57</a:t>
                      </a:r>
                      <a:endParaRPr lang="uk-UA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1629944619"/>
                  </a:ext>
                </a:extLst>
              </a:tr>
            </a:tbl>
          </a:graphicData>
        </a:graphic>
      </p:graphicFrame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4D281EA-E742-4EA6-823C-250119732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569" y="1108399"/>
            <a:ext cx="6457666" cy="21912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841D1E8-C2C5-406D-9C96-2B4DA89E4D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6128" y="3558324"/>
            <a:ext cx="6468225" cy="21912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66390D-3CC3-40BB-A991-410E2F17B822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15</a:t>
            </a:fld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1641707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1;p14">
            <a:extLst>
              <a:ext uri="{FF2B5EF4-FFF2-40B4-BE49-F238E27FC236}">
                <a16:creationId xmlns:a16="http://schemas.microsoft.com/office/drawing/2014/main" id="{418C0A46-5825-4A7E-B0C7-D7A0727058D4}"/>
              </a:ext>
            </a:extLst>
          </p:cNvPr>
          <p:cNvSpPr txBox="1">
            <a:spLocks/>
          </p:cNvSpPr>
          <p:nvPr/>
        </p:nvSpPr>
        <p:spPr>
          <a:xfrm>
            <a:off x="324758" y="0"/>
            <a:ext cx="11542484" cy="110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4000" dirty="0"/>
              <a:t>Результати експериментів: сценарій </a:t>
            </a:r>
            <a:r>
              <a:rPr lang="en-US" sz="4000" dirty="0"/>
              <a:t>Mixed </a:t>
            </a:r>
            <a:endParaRPr lang="uk-UA" sz="4267" dirty="0">
              <a:latin typeface="Economica" panose="020B0604020202020204" charset="0"/>
            </a:endParaRPr>
          </a:p>
        </p:txBody>
      </p:sp>
      <p:pic>
        <p:nvPicPr>
          <p:cNvPr id="6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D9DA43AC-A7D5-44CA-91EA-BAFFDAEBF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DD1698F-8F44-4FFD-BA2D-BC2A547A7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679789"/>
              </p:ext>
            </p:extLst>
          </p:nvPr>
        </p:nvGraphicFramePr>
        <p:xfrm>
          <a:off x="321856" y="1108400"/>
          <a:ext cx="4997007" cy="4641697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603943">
                  <a:extLst>
                    <a:ext uri="{9D8B030D-6E8A-4147-A177-3AD203B41FA5}">
                      <a16:colId xmlns:a16="http://schemas.microsoft.com/office/drawing/2014/main" val="3348140475"/>
                    </a:ext>
                  </a:extLst>
                </a:gridCol>
                <a:gridCol w="774922">
                  <a:extLst>
                    <a:ext uri="{9D8B030D-6E8A-4147-A177-3AD203B41FA5}">
                      <a16:colId xmlns:a16="http://schemas.microsoft.com/office/drawing/2014/main" val="897498190"/>
                    </a:ext>
                  </a:extLst>
                </a:gridCol>
                <a:gridCol w="774922">
                  <a:extLst>
                    <a:ext uri="{9D8B030D-6E8A-4147-A177-3AD203B41FA5}">
                      <a16:colId xmlns:a16="http://schemas.microsoft.com/office/drawing/2014/main" val="2853129210"/>
                    </a:ext>
                  </a:extLst>
                </a:gridCol>
                <a:gridCol w="893045">
                  <a:extLst>
                    <a:ext uri="{9D8B030D-6E8A-4147-A177-3AD203B41FA5}">
                      <a16:colId xmlns:a16="http://schemas.microsoft.com/office/drawing/2014/main" val="1215712739"/>
                    </a:ext>
                  </a:extLst>
                </a:gridCol>
                <a:gridCol w="893045">
                  <a:extLst>
                    <a:ext uri="{9D8B030D-6E8A-4147-A177-3AD203B41FA5}">
                      <a16:colId xmlns:a16="http://schemas.microsoft.com/office/drawing/2014/main" val="2520726464"/>
                    </a:ext>
                  </a:extLst>
                </a:gridCol>
                <a:gridCol w="528565">
                  <a:extLst>
                    <a:ext uri="{9D8B030D-6E8A-4147-A177-3AD203B41FA5}">
                      <a16:colId xmlns:a16="http://schemas.microsoft.com/office/drawing/2014/main" val="2378182842"/>
                    </a:ext>
                  </a:extLst>
                </a:gridCol>
                <a:gridCol w="528565">
                  <a:extLst>
                    <a:ext uri="{9D8B030D-6E8A-4147-A177-3AD203B41FA5}">
                      <a16:colId xmlns:a16="http://schemas.microsoft.com/office/drawing/2014/main" val="3800347905"/>
                    </a:ext>
                  </a:extLst>
                </a:gridCol>
              </a:tblGrid>
              <a:tr h="3447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Розмір вибірки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</a:rPr>
                        <a:t>Операція</a:t>
                      </a:r>
                      <a:endParaRPr lang="uk-UA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Архітектура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Пропускна здатність 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Середня затримка(ms)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p95(ms)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p99(ms)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3667288737"/>
                  </a:ext>
                </a:extLst>
              </a:tr>
              <a:tr h="343935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1 000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READ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MongoDb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1682.44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45.26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75.71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100.86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169082513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PATCH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MongoDb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144.58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131.68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195.07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233.47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2071854637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READ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Redis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7169.45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10.62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20.14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51.07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1635648332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PATCH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Redis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164.92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115.44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179.58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212.74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3881408018"/>
                  </a:ext>
                </a:extLst>
              </a:tr>
              <a:tr h="343935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10 000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READ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MongoDb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1762.26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43.21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69.25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96.90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598718417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PATCH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MongoDb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150.60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126.42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189.31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226.30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2497079774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READ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Redis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7713.25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9.87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17.38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31.68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2456340991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PATCH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Redis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168.31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113.11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165.12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192.77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3653586197"/>
                  </a:ext>
                </a:extLst>
              </a:tr>
              <a:tr h="343935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100 000</a:t>
                      </a:r>
                      <a:endParaRPr lang="uk-UA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READ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MongoDb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1603.91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47.48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86.85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106.56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1871576746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PATCH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MongoDb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120.66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157.78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224.77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260.35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806666308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READ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Redis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3558.65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21.40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39.74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62.69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860985986"/>
                  </a:ext>
                </a:extLst>
              </a:tr>
              <a:tr h="34393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PATCH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MSSQL + Redis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89.59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212.51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288.51</a:t>
                      </a:r>
                      <a:endParaRPr lang="uk-U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325.89</a:t>
                      </a:r>
                      <a:endParaRPr lang="uk-UA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9" marR="49639" marT="0" marB="0" anchor="ctr"/>
                </a:tc>
                <a:extLst>
                  <a:ext uri="{0D108BD9-81ED-4DB2-BD59-A6C34878D82A}">
                    <a16:rowId xmlns:a16="http://schemas.microsoft.com/office/drawing/2014/main" val="4177247535"/>
                  </a:ext>
                </a:extLst>
              </a:tr>
            </a:tbl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03A8EDE-9176-4B24-9260-0D6A261AE1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660" y="1108400"/>
            <a:ext cx="6822340" cy="2320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FC1CB-6D21-4885-9872-0E03B3E8B1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9660" y="3429000"/>
            <a:ext cx="6844653" cy="2320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4ED3A8-7766-4DF4-B7ED-D19F37ADDCFD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16</a:t>
            </a:fld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2917546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1;p14">
            <a:extLst>
              <a:ext uri="{FF2B5EF4-FFF2-40B4-BE49-F238E27FC236}">
                <a16:creationId xmlns:a16="http://schemas.microsoft.com/office/drawing/2014/main" id="{418C0A46-5825-4A7E-B0C7-D7A0727058D4}"/>
              </a:ext>
            </a:extLst>
          </p:cNvPr>
          <p:cNvSpPr txBox="1">
            <a:spLocks/>
          </p:cNvSpPr>
          <p:nvPr/>
        </p:nvSpPr>
        <p:spPr>
          <a:xfrm>
            <a:off x="324758" y="0"/>
            <a:ext cx="11542484" cy="110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4000" dirty="0"/>
              <a:t>Результати експериментів: сценарій </a:t>
            </a:r>
            <a:r>
              <a:rPr lang="en-US" sz="4000" dirty="0"/>
              <a:t>Text Search</a:t>
            </a:r>
            <a:endParaRPr lang="uk-UA" sz="4267" dirty="0">
              <a:latin typeface="Economica" panose="020B0604020202020204" charset="0"/>
            </a:endParaRPr>
          </a:p>
        </p:txBody>
      </p:sp>
      <p:pic>
        <p:nvPicPr>
          <p:cNvPr id="6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D9DA43AC-A7D5-44CA-91EA-BAFFDAEBF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70326E3-B86D-46E5-A92A-047E72D91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413045"/>
              </p:ext>
            </p:extLst>
          </p:nvPr>
        </p:nvGraphicFramePr>
        <p:xfrm>
          <a:off x="1225918" y="1338339"/>
          <a:ext cx="9667140" cy="4108298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551392">
                  <a:extLst>
                    <a:ext uri="{9D8B030D-6E8A-4147-A177-3AD203B41FA5}">
                      <a16:colId xmlns:a16="http://schemas.microsoft.com/office/drawing/2014/main" val="3067571395"/>
                    </a:ext>
                  </a:extLst>
                </a:gridCol>
                <a:gridCol w="1551392">
                  <a:extLst>
                    <a:ext uri="{9D8B030D-6E8A-4147-A177-3AD203B41FA5}">
                      <a16:colId xmlns:a16="http://schemas.microsoft.com/office/drawing/2014/main" val="3015156088"/>
                    </a:ext>
                  </a:extLst>
                </a:gridCol>
                <a:gridCol w="1770143">
                  <a:extLst>
                    <a:ext uri="{9D8B030D-6E8A-4147-A177-3AD203B41FA5}">
                      <a16:colId xmlns:a16="http://schemas.microsoft.com/office/drawing/2014/main" val="1381458624"/>
                    </a:ext>
                  </a:extLst>
                </a:gridCol>
                <a:gridCol w="1770143">
                  <a:extLst>
                    <a:ext uri="{9D8B030D-6E8A-4147-A177-3AD203B41FA5}">
                      <a16:colId xmlns:a16="http://schemas.microsoft.com/office/drawing/2014/main" val="4281857100"/>
                    </a:ext>
                  </a:extLst>
                </a:gridCol>
                <a:gridCol w="1512035">
                  <a:extLst>
                    <a:ext uri="{9D8B030D-6E8A-4147-A177-3AD203B41FA5}">
                      <a16:colId xmlns:a16="http://schemas.microsoft.com/office/drawing/2014/main" val="4016149735"/>
                    </a:ext>
                  </a:extLst>
                </a:gridCol>
                <a:gridCol w="1512035">
                  <a:extLst>
                    <a:ext uri="{9D8B030D-6E8A-4147-A177-3AD203B41FA5}">
                      <a16:colId xmlns:a16="http://schemas.microsoft.com/office/drawing/2014/main" val="3996660742"/>
                    </a:ext>
                  </a:extLst>
                </a:gridCol>
              </a:tblGrid>
              <a:tr h="828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Розмір вибірки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effectLst/>
                        </a:rPr>
                        <a:t>Архітектура</a:t>
                      </a:r>
                      <a:endParaRPr lang="uk-U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Пропускна здатність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Середня затримка (ms)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Перцентиль 95% (ms)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Перцентиль 99% (ms)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804348"/>
                  </a:ext>
                </a:extLst>
              </a:tr>
              <a:tr h="54656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1 000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MSSQL + MongoDb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2385.04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39.91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74.94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95.30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16281692"/>
                  </a:ext>
                </a:extLst>
              </a:tr>
              <a:tr h="546560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MSSQL + Redis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1843.61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51.63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85.82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102.91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7690424"/>
                  </a:ext>
                </a:extLst>
              </a:tr>
              <a:tr h="54656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10 000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MSSQL + MongoDb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1650.03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57.69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101.63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127.04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72391804"/>
                  </a:ext>
                </a:extLst>
              </a:tr>
              <a:tr h="546560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MSSQL + Redis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1539.43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61.84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99.20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119.81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6920604"/>
                  </a:ext>
                </a:extLst>
              </a:tr>
              <a:tr h="54656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100 000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MSSQL + MongoDb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308.20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308.96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668.67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885.25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37414075"/>
                  </a:ext>
                </a:extLst>
              </a:tr>
              <a:tr h="546560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MSSQL + Redis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648.05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146.89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235.39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271.36</a:t>
                      </a:r>
                      <a:endParaRPr lang="uk-U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5237384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A536966-3481-4AB5-82A5-734437394B4E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17</a:t>
            </a:fld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2002046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1;p14">
            <a:extLst>
              <a:ext uri="{FF2B5EF4-FFF2-40B4-BE49-F238E27FC236}">
                <a16:creationId xmlns:a16="http://schemas.microsoft.com/office/drawing/2014/main" id="{418C0A46-5825-4A7E-B0C7-D7A0727058D4}"/>
              </a:ext>
            </a:extLst>
          </p:cNvPr>
          <p:cNvSpPr txBox="1">
            <a:spLocks/>
          </p:cNvSpPr>
          <p:nvPr/>
        </p:nvSpPr>
        <p:spPr>
          <a:xfrm>
            <a:off x="324758" y="0"/>
            <a:ext cx="11542484" cy="110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4000" dirty="0"/>
              <a:t>Аналіз узгодженості даних та дискового простору</a:t>
            </a:r>
            <a:endParaRPr lang="uk-UA" sz="4267" dirty="0">
              <a:latin typeface="Economica" panose="020B0604020202020204" charset="0"/>
            </a:endParaRPr>
          </a:p>
        </p:txBody>
      </p:sp>
      <p:pic>
        <p:nvPicPr>
          <p:cNvPr id="6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D9DA43AC-A7D5-44CA-91EA-BAFFDAEBF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536966-3481-4AB5-82A5-734437394B4E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18</a:t>
            </a:fld>
            <a:endParaRPr lang="uk-UA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Таблица 1">
                <a:extLst>
                  <a:ext uri="{FF2B5EF4-FFF2-40B4-BE49-F238E27FC236}">
                    <a16:creationId xmlns:a16="http://schemas.microsoft.com/office/drawing/2014/main" id="{F23F6332-BE43-41CD-A069-407A852C8E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608500"/>
                  </p:ext>
                </p:extLst>
              </p:nvPr>
            </p:nvGraphicFramePr>
            <p:xfrm>
              <a:off x="6259441" y="1260015"/>
              <a:ext cx="5607801" cy="4077850"/>
            </p:xfrm>
            <a:graphic>
              <a:graphicData uri="http://schemas.openxmlformats.org/drawingml/2006/table">
                <a:tbl>
                  <a:tblPr firstRow="1" firstCol="1" bandRow="1">
                    <a:tableStyleId>{7DF18680-E054-41AD-8BC1-D1AEF772440D}</a:tableStyleId>
                  </a:tblPr>
                  <a:tblGrid>
                    <a:gridCol w="815105">
                      <a:extLst>
                        <a:ext uri="{9D8B030D-6E8A-4147-A177-3AD203B41FA5}">
                          <a16:colId xmlns:a16="http://schemas.microsoft.com/office/drawing/2014/main" val="2169016444"/>
                        </a:ext>
                      </a:extLst>
                    </a:gridCol>
                    <a:gridCol w="1361262">
                      <a:extLst>
                        <a:ext uri="{9D8B030D-6E8A-4147-A177-3AD203B41FA5}">
                          <a16:colId xmlns:a16="http://schemas.microsoft.com/office/drawing/2014/main" val="2793404535"/>
                        </a:ext>
                      </a:extLst>
                    </a:gridCol>
                    <a:gridCol w="973829">
                      <a:extLst>
                        <a:ext uri="{9D8B030D-6E8A-4147-A177-3AD203B41FA5}">
                          <a16:colId xmlns:a16="http://schemas.microsoft.com/office/drawing/2014/main" val="3849757734"/>
                        </a:ext>
                      </a:extLst>
                    </a:gridCol>
                    <a:gridCol w="973829">
                      <a:extLst>
                        <a:ext uri="{9D8B030D-6E8A-4147-A177-3AD203B41FA5}">
                          <a16:colId xmlns:a16="http://schemas.microsoft.com/office/drawing/2014/main" val="3496669239"/>
                        </a:ext>
                      </a:extLst>
                    </a:gridCol>
                    <a:gridCol w="741888">
                      <a:extLst>
                        <a:ext uri="{9D8B030D-6E8A-4147-A177-3AD203B41FA5}">
                          <a16:colId xmlns:a16="http://schemas.microsoft.com/office/drawing/2014/main" val="443436167"/>
                        </a:ext>
                      </a:extLst>
                    </a:gridCol>
                    <a:gridCol w="741888">
                      <a:extLst>
                        <a:ext uri="{9D8B030D-6E8A-4147-A177-3AD203B41FA5}">
                          <a16:colId xmlns:a16="http://schemas.microsoft.com/office/drawing/2014/main" val="729805035"/>
                        </a:ext>
                      </a:extLst>
                    </a:gridCol>
                  </a:tblGrid>
                  <a:tr h="58255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>
                              <a:effectLst/>
                            </a:rPr>
                            <a:t>Розмір вибірки</a:t>
                          </a:r>
                          <a:endParaRPr lang="uk-UA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 dirty="0" err="1">
                              <a:effectLst/>
                            </a:rPr>
                            <a:t>Архітектура</a:t>
                          </a:r>
                          <a:endParaRPr lang="uk-UA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>
                              <a:effectLst/>
                            </a:rPr>
                            <a:t>In_Sync</a:t>
                          </a:r>
                          <a:endParaRPr lang="uk-UA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>
                              <a:effectLst/>
                            </a:rPr>
                            <a:t>Not_Mutated_Yet</a:t>
                          </a:r>
                          <a:endParaRPr lang="uk-UA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 dirty="0" err="1">
                              <a:effectLst/>
                            </a:rPr>
                            <a:t>Out_Of_Sync</a:t>
                          </a:r>
                          <a:endParaRPr lang="uk-UA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𝒔𝒚𝒏𝒄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785623004"/>
                      </a:ext>
                    </a:extLst>
                  </a:tr>
                  <a:tr h="582550">
                    <a:tc rowSpan="2"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1 000</a:t>
                          </a:r>
                          <a:endParaRPr lang="uk-UA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MSSQL + MongoDb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385 559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156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</a:rPr>
                            <a:t>2 309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0.9940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06290953"/>
                      </a:ext>
                    </a:extLst>
                  </a:tr>
                  <a:tr h="582550">
                    <a:tc vMerge="1"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MSSQL + Redis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546 916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307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</a:rPr>
                            <a:t>4 861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0.9912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08025584"/>
                      </a:ext>
                    </a:extLst>
                  </a:tr>
                  <a:tr h="582550">
                    <a:tc rowSpan="2"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10 000</a:t>
                          </a:r>
                          <a:endParaRPr lang="uk-UA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</a:rPr>
                            <a:t>MSSQL + </a:t>
                          </a:r>
                          <a:r>
                            <a:rPr lang="ru-RU" sz="1400" dirty="0" err="1">
                              <a:effectLst/>
                            </a:rPr>
                            <a:t>MongoDb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410 452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13 776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154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0.9996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07281573"/>
                      </a:ext>
                    </a:extLst>
                  </a:tr>
                  <a:tr h="582550">
                    <a:tc vMerge="1"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MSSQL + Redis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424 781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18 333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2 245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0.9950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118643073"/>
                      </a:ext>
                    </a:extLst>
                  </a:tr>
                  <a:tr h="582550">
                    <a:tc rowSpan="2"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100 000</a:t>
                          </a:r>
                          <a:endParaRPr lang="uk-UA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MSSQL + MongoDb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254 297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171 335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14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0.9999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58950501"/>
                      </a:ext>
                    </a:extLst>
                  </a:tr>
                  <a:tr h="582550">
                    <a:tc vMerge="1"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MSSQL + Redis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308 593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211 674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</a:rPr>
                            <a:t>33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0.9999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68054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Таблица 1">
                <a:extLst>
                  <a:ext uri="{FF2B5EF4-FFF2-40B4-BE49-F238E27FC236}">
                    <a16:creationId xmlns:a16="http://schemas.microsoft.com/office/drawing/2014/main" id="{F23F6332-BE43-41CD-A069-407A852C8E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608500"/>
                  </p:ext>
                </p:extLst>
              </p:nvPr>
            </p:nvGraphicFramePr>
            <p:xfrm>
              <a:off x="6259441" y="1260015"/>
              <a:ext cx="5607801" cy="4077850"/>
            </p:xfrm>
            <a:graphic>
              <a:graphicData uri="http://schemas.openxmlformats.org/drawingml/2006/table">
                <a:tbl>
                  <a:tblPr firstRow="1" firstCol="1" bandRow="1">
                    <a:tableStyleId>{7DF18680-E054-41AD-8BC1-D1AEF772440D}</a:tableStyleId>
                  </a:tblPr>
                  <a:tblGrid>
                    <a:gridCol w="815105">
                      <a:extLst>
                        <a:ext uri="{9D8B030D-6E8A-4147-A177-3AD203B41FA5}">
                          <a16:colId xmlns:a16="http://schemas.microsoft.com/office/drawing/2014/main" val="2169016444"/>
                        </a:ext>
                      </a:extLst>
                    </a:gridCol>
                    <a:gridCol w="1361262">
                      <a:extLst>
                        <a:ext uri="{9D8B030D-6E8A-4147-A177-3AD203B41FA5}">
                          <a16:colId xmlns:a16="http://schemas.microsoft.com/office/drawing/2014/main" val="2793404535"/>
                        </a:ext>
                      </a:extLst>
                    </a:gridCol>
                    <a:gridCol w="973829">
                      <a:extLst>
                        <a:ext uri="{9D8B030D-6E8A-4147-A177-3AD203B41FA5}">
                          <a16:colId xmlns:a16="http://schemas.microsoft.com/office/drawing/2014/main" val="3849757734"/>
                        </a:ext>
                      </a:extLst>
                    </a:gridCol>
                    <a:gridCol w="973829">
                      <a:extLst>
                        <a:ext uri="{9D8B030D-6E8A-4147-A177-3AD203B41FA5}">
                          <a16:colId xmlns:a16="http://schemas.microsoft.com/office/drawing/2014/main" val="3496669239"/>
                        </a:ext>
                      </a:extLst>
                    </a:gridCol>
                    <a:gridCol w="741888">
                      <a:extLst>
                        <a:ext uri="{9D8B030D-6E8A-4147-A177-3AD203B41FA5}">
                          <a16:colId xmlns:a16="http://schemas.microsoft.com/office/drawing/2014/main" val="443436167"/>
                        </a:ext>
                      </a:extLst>
                    </a:gridCol>
                    <a:gridCol w="741888">
                      <a:extLst>
                        <a:ext uri="{9D8B030D-6E8A-4147-A177-3AD203B41FA5}">
                          <a16:colId xmlns:a16="http://schemas.microsoft.com/office/drawing/2014/main" val="729805035"/>
                        </a:ext>
                      </a:extLst>
                    </a:gridCol>
                  </a:tblGrid>
                  <a:tr h="58255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>
                              <a:effectLst/>
                            </a:rPr>
                            <a:t>Розмір вибірки</a:t>
                          </a:r>
                          <a:endParaRPr lang="uk-UA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 dirty="0" err="1">
                              <a:effectLst/>
                            </a:rPr>
                            <a:t>Архітектура</a:t>
                          </a:r>
                          <a:endParaRPr lang="uk-UA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>
                              <a:effectLst/>
                            </a:rPr>
                            <a:t>In_Sync</a:t>
                          </a:r>
                          <a:endParaRPr lang="uk-UA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>
                              <a:effectLst/>
                            </a:rPr>
                            <a:t>Not_Mutated_Yet</a:t>
                          </a:r>
                          <a:endParaRPr lang="uk-UA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 dirty="0" err="1">
                              <a:effectLst/>
                            </a:rPr>
                            <a:t>Out_Of_Sync</a:t>
                          </a:r>
                          <a:endParaRPr lang="uk-UA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655738" t="-1042" r="-3279" b="-6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5623004"/>
                      </a:ext>
                    </a:extLst>
                  </a:tr>
                  <a:tr h="582550">
                    <a:tc rowSpan="2"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1 000</a:t>
                          </a:r>
                          <a:endParaRPr lang="uk-UA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MSSQL + MongoDb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385 559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156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</a:rPr>
                            <a:t>2 309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0.9940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06290953"/>
                      </a:ext>
                    </a:extLst>
                  </a:tr>
                  <a:tr h="582550">
                    <a:tc vMerge="1"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MSSQL + Redis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546 916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307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</a:rPr>
                            <a:t>4 861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0.9912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08025584"/>
                      </a:ext>
                    </a:extLst>
                  </a:tr>
                  <a:tr h="582550">
                    <a:tc rowSpan="2"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10 000</a:t>
                          </a:r>
                          <a:endParaRPr lang="uk-UA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</a:rPr>
                            <a:t>MSSQL + </a:t>
                          </a:r>
                          <a:r>
                            <a:rPr lang="ru-RU" sz="1400" dirty="0" err="1">
                              <a:effectLst/>
                            </a:rPr>
                            <a:t>MongoDb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410 452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13 776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154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0.9996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07281573"/>
                      </a:ext>
                    </a:extLst>
                  </a:tr>
                  <a:tr h="582550">
                    <a:tc vMerge="1"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MSSQL + Redis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424 781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18 333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2 245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0.9950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118643073"/>
                      </a:ext>
                    </a:extLst>
                  </a:tr>
                  <a:tr h="582550">
                    <a:tc rowSpan="2"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100 000</a:t>
                          </a:r>
                          <a:endParaRPr lang="uk-UA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MSSQL + MongoDb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254 297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171 335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14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0.9999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58950501"/>
                      </a:ext>
                    </a:extLst>
                  </a:tr>
                  <a:tr h="582550">
                    <a:tc vMerge="1"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MSSQL + Redis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308 593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211 674</a:t>
                          </a:r>
                          <a:endParaRPr lang="uk-U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</a:rPr>
                            <a:t>33</a:t>
                          </a:r>
                          <a:endParaRPr lang="uk-U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uk-UA" sz="14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0.9999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68054002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7D9E629-648D-4A2D-BE73-B3102A7FD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747587"/>
              </p:ext>
            </p:extLst>
          </p:nvPr>
        </p:nvGraphicFramePr>
        <p:xfrm>
          <a:off x="324758" y="1260015"/>
          <a:ext cx="5450423" cy="4077639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947652">
                  <a:extLst>
                    <a:ext uri="{9D8B030D-6E8A-4147-A177-3AD203B41FA5}">
                      <a16:colId xmlns:a16="http://schemas.microsoft.com/office/drawing/2014/main" val="1677147559"/>
                    </a:ext>
                  </a:extLst>
                </a:gridCol>
                <a:gridCol w="1429789">
                  <a:extLst>
                    <a:ext uri="{9D8B030D-6E8A-4147-A177-3AD203B41FA5}">
                      <a16:colId xmlns:a16="http://schemas.microsoft.com/office/drawing/2014/main" val="354786443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415065401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2296526166"/>
                    </a:ext>
                  </a:extLst>
                </a:gridCol>
                <a:gridCol w="1327309">
                  <a:extLst>
                    <a:ext uri="{9D8B030D-6E8A-4147-A177-3AD203B41FA5}">
                      <a16:colId xmlns:a16="http://schemas.microsoft.com/office/drawing/2014/main" val="3277822750"/>
                    </a:ext>
                  </a:extLst>
                </a:gridCol>
              </a:tblGrid>
              <a:tr h="1112547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Розмір вибірки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Архітектура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Обсяг чистих даних (МБ)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Розмір індексів (МБ)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Загальний корисний обсяг (МБ)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extLst>
                  <a:ext uri="{0D108BD9-81ED-4DB2-BD59-A6C34878D82A}">
                    <a16:rowId xmlns:a16="http://schemas.microsoft.com/office/drawing/2014/main" val="2917908184"/>
                  </a:ext>
                </a:extLst>
              </a:tr>
              <a:tr h="628866">
                <a:tc rowSpan="2"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1 000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MSSQL + MongoDb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effectLst/>
                        </a:rPr>
                        <a:t>3.25 </a:t>
                      </a:r>
                      <a:endParaRPr lang="uk-UA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4.31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7.56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extLst>
                  <a:ext uri="{0D108BD9-81ED-4DB2-BD59-A6C34878D82A}">
                    <a16:rowId xmlns:a16="http://schemas.microsoft.com/office/drawing/2014/main" val="399958547"/>
                  </a:ext>
                </a:extLst>
              </a:tr>
              <a:tr h="359498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MSSQL + Redis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effectLst/>
                        </a:rPr>
                        <a:t>6.82</a:t>
                      </a:r>
                      <a:endParaRPr lang="uk-UA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7.45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14.27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extLst>
                  <a:ext uri="{0D108BD9-81ED-4DB2-BD59-A6C34878D82A}">
                    <a16:rowId xmlns:a16="http://schemas.microsoft.com/office/drawing/2014/main" val="2836795512"/>
                  </a:ext>
                </a:extLst>
              </a:tr>
              <a:tr h="628866">
                <a:tc rowSpan="2"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10 000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MSSQL + MongoDb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effectLst/>
                        </a:rPr>
                        <a:t>19.69</a:t>
                      </a:r>
                      <a:endParaRPr lang="uk-UA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7.06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26.75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extLst>
                  <a:ext uri="{0D108BD9-81ED-4DB2-BD59-A6C34878D82A}">
                    <a16:rowId xmlns:a16="http://schemas.microsoft.com/office/drawing/2014/main" val="1721250194"/>
                  </a:ext>
                </a:extLst>
              </a:tr>
              <a:tr h="359498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MSSQL + Redis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25.03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11.88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36.91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extLst>
                  <a:ext uri="{0D108BD9-81ED-4DB2-BD59-A6C34878D82A}">
                    <a16:rowId xmlns:a16="http://schemas.microsoft.com/office/drawing/2014/main" val="1550044938"/>
                  </a:ext>
                </a:extLst>
              </a:tr>
              <a:tr h="628866">
                <a:tc rowSpan="2"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100 000</a:t>
                      </a:r>
                      <a:endParaRPr lang="uk-UA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MSSQL + MongoDb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184.03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47.91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231.94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extLst>
                  <a:ext uri="{0D108BD9-81ED-4DB2-BD59-A6C34878D82A}">
                    <a16:rowId xmlns:a16="http://schemas.microsoft.com/office/drawing/2014/main" val="1078843446"/>
                  </a:ext>
                </a:extLst>
              </a:tr>
              <a:tr h="359498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MSSQL + Redis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207.47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>
                          <a:effectLst/>
                        </a:rPr>
                        <a:t>61.12</a:t>
                      </a:r>
                      <a:endParaRPr lang="uk-UA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effectLst/>
                        </a:rPr>
                        <a:t>268.59</a:t>
                      </a:r>
                      <a:endParaRPr lang="uk-UA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63" marR="67663" marT="0" marB="0" anchor="ctr"/>
                </a:tc>
                <a:extLst>
                  <a:ext uri="{0D108BD9-81ED-4DB2-BD59-A6C34878D82A}">
                    <a16:rowId xmlns:a16="http://schemas.microsoft.com/office/drawing/2014/main" val="461071500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C8DAF1D-CFC7-4853-A280-5BE8F6CD98F6}"/>
              </a:ext>
            </a:extLst>
          </p:cNvPr>
          <p:cNvSpPr/>
          <p:nvPr/>
        </p:nvSpPr>
        <p:spPr>
          <a:xfrm>
            <a:off x="1069298" y="5337864"/>
            <a:ext cx="4495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Використання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дискового простору 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архітектурами</a:t>
            </a:r>
            <a:endParaRPr lang="uk-UA" sz="16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EAF7A81-BE0C-4B2E-A1DE-D88F3F0CCF1B}"/>
              </a:ext>
            </a:extLst>
          </p:cNvPr>
          <p:cNvSpPr/>
          <p:nvPr/>
        </p:nvSpPr>
        <p:spPr>
          <a:xfrm>
            <a:off x="7373615" y="5337655"/>
            <a:ext cx="38250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Результати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перевірки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узгодженості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даних</a:t>
            </a:r>
            <a:endParaRPr lang="uk-UA" sz="1600" dirty="0"/>
          </a:p>
        </p:txBody>
      </p:sp>
    </p:spTree>
    <p:extLst>
      <p:ext uri="{BB962C8B-B14F-4D97-AF65-F5344CB8AC3E}">
        <p14:creationId xmlns:p14="http://schemas.microsoft.com/office/powerpoint/2010/main" val="1743518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D5AF83-52EA-48AF-AAB8-D7747920F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60" y="-11913"/>
            <a:ext cx="11543680" cy="1108400"/>
          </a:xfrm>
        </p:spPr>
        <p:txBody>
          <a:bodyPr anchor="ctr" anchorCtr="0"/>
          <a:lstStyle/>
          <a:p>
            <a:pPr algn="ctr"/>
            <a:r>
              <a:rPr lang="uk-UA" dirty="0"/>
              <a:t>Розроблені рекомендації</a:t>
            </a:r>
          </a:p>
        </p:txBody>
      </p:sp>
      <p:pic>
        <p:nvPicPr>
          <p:cNvPr id="4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80448808-B522-43F8-B95F-A1951409C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A14E70-11E4-4E55-B8D8-56E552106DD8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19</a:t>
            </a:fld>
            <a:endParaRPr lang="uk-UA" sz="2400" dirty="0"/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074EFF10-8003-47BA-A163-A95349AA9C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431577"/>
              </p:ext>
            </p:extLst>
          </p:nvPr>
        </p:nvGraphicFramePr>
        <p:xfrm>
          <a:off x="431786" y="1261425"/>
          <a:ext cx="4970061" cy="42105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970061">
                  <a:extLst>
                    <a:ext uri="{9D8B030D-6E8A-4147-A177-3AD203B41FA5}">
                      <a16:colId xmlns:a16="http://schemas.microsoft.com/office/drawing/2014/main" val="1328975239"/>
                    </a:ext>
                  </a:extLst>
                </a:gridCol>
              </a:tblGrid>
              <a:tr h="7968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MSSQL + MongoDB</a:t>
                      </a:r>
                      <a:endParaRPr lang="uk-UA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553618"/>
                  </a:ext>
                </a:extLst>
              </a:tr>
              <a:tr h="3189819">
                <a:tc>
                  <a:txBody>
                    <a:bodyPr/>
                    <a:lstStyle/>
                    <a:p>
                      <a:pPr marL="342900" indent="-34290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Char char="-"/>
                      </a:pPr>
                      <a:r>
                        <a:rPr lang="uk-UA" sz="1800" dirty="0"/>
                        <a:t>Оптимальний вибір для </a:t>
                      </a:r>
                      <a:r>
                        <a:rPr lang="en-US" sz="1800" dirty="0"/>
                        <a:t>B2B-</a:t>
                      </a:r>
                      <a:r>
                        <a:rPr lang="uk-UA" sz="1800" dirty="0"/>
                        <a:t>платформ із масовими та постійними оновленнями асортименту. </a:t>
                      </a:r>
                    </a:p>
                    <a:p>
                      <a:pPr marL="342900" indent="-34290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Char char="-"/>
                      </a:pPr>
                      <a:r>
                        <a:rPr lang="uk-UA" sz="1800" dirty="0"/>
                        <a:t>Завдяки </a:t>
                      </a:r>
                      <a:r>
                        <a:rPr lang="uk-UA" sz="1800" dirty="0" err="1"/>
                        <a:t>багатопотоковому</a:t>
                      </a:r>
                      <a:r>
                        <a:rPr lang="uk-UA" sz="1800" dirty="0"/>
                        <a:t> рушію та повній ізоляції </a:t>
                      </a:r>
                      <a:r>
                        <a:rPr lang="uk-UA" sz="1800" dirty="0" err="1"/>
                        <a:t>денормалізованого</a:t>
                      </a:r>
                      <a:r>
                        <a:rPr lang="uk-UA" sz="1800" dirty="0"/>
                        <a:t> каталогу від </a:t>
                      </a:r>
                      <a:r>
                        <a:rPr lang="uk-UA" sz="1800" dirty="0" err="1"/>
                        <a:t>транзакційного</a:t>
                      </a:r>
                      <a:r>
                        <a:rPr lang="uk-UA" sz="1800" dirty="0"/>
                        <a:t> домену, досягається висока стабільність при конкурентних навантаженнях. </a:t>
                      </a:r>
                    </a:p>
                    <a:p>
                      <a:pPr marL="342900" indent="-34290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Char char="-"/>
                      </a:pPr>
                      <a:r>
                        <a:rPr lang="uk-UA" sz="1800" dirty="0"/>
                        <a:t>Підхід є економічно вигідним через меншу складність імплементації та ефективне стиснення даних </a:t>
                      </a:r>
                      <a:r>
                        <a:rPr lang="en-US" sz="1800" dirty="0" err="1"/>
                        <a:t>WiredTiger</a:t>
                      </a:r>
                      <a:r>
                        <a:rPr lang="en-US" sz="1800" dirty="0"/>
                        <a:t>.</a:t>
                      </a:r>
                      <a:endParaRPr lang="uk-UA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938879"/>
                  </a:ext>
                </a:extLst>
              </a:tr>
            </a:tbl>
          </a:graphicData>
        </a:graphic>
      </p:graphicFrame>
      <p:graphicFrame>
        <p:nvGraphicFramePr>
          <p:cNvPr id="10" name="Таблица 8">
            <a:extLst>
              <a:ext uri="{FF2B5EF4-FFF2-40B4-BE49-F238E27FC236}">
                <a16:creationId xmlns:a16="http://schemas.microsoft.com/office/drawing/2014/main" id="{30B909FB-8A0A-4DF1-B41A-AD4496282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304331"/>
              </p:ext>
            </p:extLst>
          </p:nvPr>
        </p:nvGraphicFramePr>
        <p:xfrm>
          <a:off x="6790153" y="1261425"/>
          <a:ext cx="4970061" cy="42105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970061">
                  <a:extLst>
                    <a:ext uri="{9D8B030D-6E8A-4147-A177-3AD203B41FA5}">
                      <a16:colId xmlns:a16="http://schemas.microsoft.com/office/drawing/2014/main" val="1328975239"/>
                    </a:ext>
                  </a:extLst>
                </a:gridCol>
              </a:tblGrid>
              <a:tr h="72485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MSSQL + Redis</a:t>
                      </a:r>
                      <a:endParaRPr lang="uk-UA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553618"/>
                  </a:ext>
                </a:extLst>
              </a:tr>
              <a:tr h="3485725">
                <a:tc>
                  <a:txBody>
                    <a:bodyPr/>
                    <a:lstStyle/>
                    <a:p>
                      <a:pPr marL="342900" indent="-34290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Char char="-"/>
                      </a:pPr>
                      <a:r>
                        <a:rPr lang="uk-UA" sz="1800" dirty="0"/>
                        <a:t>Рекомендується для систем з екстремальним трафіком на читання та критичними вимогами до затримки відгуку</a:t>
                      </a:r>
                    </a:p>
                    <a:p>
                      <a:pPr marL="342900" indent="-34290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Char char="-"/>
                      </a:pPr>
                      <a:r>
                        <a:rPr lang="uk-UA" sz="1800" dirty="0"/>
                        <a:t>Використання </a:t>
                      </a:r>
                      <a:r>
                        <a:rPr lang="en-US" sz="1800" dirty="0"/>
                        <a:t>In-Memory </a:t>
                      </a:r>
                      <a:r>
                        <a:rPr lang="uk-UA" sz="1800" dirty="0"/>
                        <a:t>сховища та інвертованих індексів </a:t>
                      </a:r>
                      <a:r>
                        <a:rPr lang="en-US" sz="1800" dirty="0" err="1"/>
                        <a:t>RediSearch</a:t>
                      </a:r>
                      <a:r>
                        <a:rPr lang="en-US" sz="1800" dirty="0"/>
                        <a:t> </a:t>
                      </a:r>
                      <a:r>
                        <a:rPr lang="uk-UA" sz="1800" dirty="0"/>
                        <a:t>забезпечує найвищу швидкість повнотекстового пошуку.</a:t>
                      </a:r>
                    </a:p>
                    <a:p>
                      <a:pPr marL="342900" indent="-34290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Char char="-"/>
                      </a:pPr>
                      <a:r>
                        <a:rPr lang="uk-UA" sz="1800" dirty="0"/>
                        <a:t>Необхідно враховувати чутливість до змішаних навантажень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938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4459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1;p14">
            <a:extLst>
              <a:ext uri="{FF2B5EF4-FFF2-40B4-BE49-F238E27FC236}">
                <a16:creationId xmlns:a16="http://schemas.microsoft.com/office/drawing/2014/main" id="{418C0A46-5825-4A7E-B0C7-D7A0727058D4}"/>
              </a:ext>
            </a:extLst>
          </p:cNvPr>
          <p:cNvSpPr txBox="1">
            <a:spLocks/>
          </p:cNvSpPr>
          <p:nvPr/>
        </p:nvSpPr>
        <p:spPr>
          <a:xfrm>
            <a:off x="324758" y="0"/>
            <a:ext cx="11542484" cy="110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uk-UA" sz="4000" dirty="0"/>
              <a:t>Публікація результатів</a:t>
            </a:r>
            <a:endParaRPr lang="uk-UA" sz="4267" dirty="0">
              <a:latin typeface="Economica" panose="020B0604020202020204" charset="0"/>
            </a:endParaRPr>
          </a:p>
        </p:txBody>
      </p:sp>
      <p:pic>
        <p:nvPicPr>
          <p:cNvPr id="6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D9DA43AC-A7D5-44CA-91EA-BAFFDAEBF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536966-3481-4AB5-82A5-734437394B4E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20</a:t>
            </a:fld>
            <a:endParaRPr lang="uk-UA" sz="2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9179DBB-B147-4AD1-964C-E3D198ECC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5394" y="1303057"/>
            <a:ext cx="3138926" cy="46726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0F5442A-5338-4710-A0F9-D38F41C2A9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8455" y="1303057"/>
            <a:ext cx="3138926" cy="46440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Текст 12">
            <a:extLst>
              <a:ext uri="{FF2B5EF4-FFF2-40B4-BE49-F238E27FC236}">
                <a16:creationId xmlns:a16="http://schemas.microsoft.com/office/drawing/2014/main" id="{2AF48C57-063E-4D54-8345-19F759959B44}"/>
              </a:ext>
            </a:extLst>
          </p:cNvPr>
          <p:cNvSpPr txBox="1">
            <a:spLocks/>
          </p:cNvSpPr>
          <p:nvPr/>
        </p:nvSpPr>
        <p:spPr>
          <a:xfrm>
            <a:off x="415600" y="1303057"/>
            <a:ext cx="4306029" cy="4644086"/>
          </a:xfrm>
          <a:prstGeom prst="rect">
            <a:avLst/>
          </a:prstGeom>
        </p:spPr>
        <p:txBody>
          <a:bodyPr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Tx/>
              <a:buChar char="-"/>
            </a:pPr>
            <a:r>
              <a:rPr lang="uk-UA" dirty="0"/>
              <a:t> Опубліковано тези доповіді «Дослідження архітектурних рішень з організації бази даних каталогів товарів в системах електронної комерції» в матеріалах  конференції «</a:t>
            </a:r>
            <a:r>
              <a:rPr lang="uk-UA" dirty="0" err="1"/>
              <a:t>Development</a:t>
            </a:r>
            <a:r>
              <a:rPr lang="uk-UA" dirty="0"/>
              <a:t> </a:t>
            </a:r>
            <a:r>
              <a:rPr lang="uk-UA" dirty="0" err="1"/>
              <a:t>of</a:t>
            </a:r>
            <a:r>
              <a:rPr lang="uk-UA" dirty="0"/>
              <a:t> </a:t>
            </a:r>
            <a:r>
              <a:rPr lang="uk-UA" dirty="0" err="1"/>
              <a:t>Education</a:t>
            </a:r>
            <a:r>
              <a:rPr lang="uk-UA" dirty="0"/>
              <a:t>, </a:t>
            </a:r>
            <a:r>
              <a:rPr lang="uk-UA" dirty="0" err="1"/>
              <a:t>Science</a:t>
            </a:r>
            <a:r>
              <a:rPr lang="uk-UA" dirty="0"/>
              <a:t> </a:t>
            </a:r>
            <a:r>
              <a:rPr lang="uk-UA" dirty="0" err="1"/>
              <a:t>and</a:t>
            </a:r>
            <a:r>
              <a:rPr lang="uk-UA" dirty="0"/>
              <a:t> </a:t>
            </a:r>
            <a:r>
              <a:rPr lang="uk-UA" dirty="0" err="1"/>
              <a:t>Business</a:t>
            </a:r>
            <a:r>
              <a:rPr lang="uk-UA" dirty="0"/>
              <a:t>»</a:t>
            </a:r>
          </a:p>
          <a:p>
            <a:endParaRPr lang="ru-RU" dirty="0"/>
          </a:p>
          <a:p>
            <a:pPr>
              <a:buFontTx/>
              <a:buChar char="-"/>
            </a:pPr>
            <a:r>
              <a:rPr lang="ru-RU" dirty="0"/>
              <a:t> </a:t>
            </a:r>
            <a:r>
              <a:rPr lang="ru-RU" dirty="0" err="1"/>
              <a:t>пройшли</a:t>
            </a:r>
            <a:r>
              <a:rPr lang="ru-RU" dirty="0"/>
              <a:t> </a:t>
            </a:r>
            <a:r>
              <a:rPr lang="ru-RU" dirty="0" err="1"/>
              <a:t>рецензування</a:t>
            </a:r>
            <a:r>
              <a:rPr lang="ru-RU" dirty="0"/>
              <a:t> </a:t>
            </a:r>
            <a:r>
              <a:rPr lang="ru-RU" dirty="0" err="1"/>
              <a:t>матеріали</a:t>
            </a:r>
            <a:r>
              <a:rPr lang="ru-RU" dirty="0"/>
              <a:t> </a:t>
            </a:r>
            <a:r>
              <a:rPr lang="ru-RU" dirty="0" err="1"/>
              <a:t>статті</a:t>
            </a:r>
            <a:r>
              <a:rPr lang="ru-RU" dirty="0"/>
              <a:t> «</a:t>
            </a:r>
            <a:r>
              <a:rPr lang="ru-RU" dirty="0" err="1"/>
              <a:t>Дослідження</a:t>
            </a:r>
            <a:r>
              <a:rPr lang="ru-RU" dirty="0"/>
              <a:t> </a:t>
            </a:r>
            <a:r>
              <a:rPr lang="ru-RU" dirty="0" err="1"/>
              <a:t>підходів</a:t>
            </a:r>
            <a:r>
              <a:rPr lang="ru-RU" dirty="0"/>
              <a:t> до </a:t>
            </a:r>
            <a:r>
              <a:rPr lang="ru-RU" dirty="0" err="1"/>
              <a:t>організації</a:t>
            </a:r>
            <a:r>
              <a:rPr lang="ru-RU" dirty="0"/>
              <a:t> </a:t>
            </a:r>
            <a:r>
              <a:rPr lang="ru-RU" dirty="0" err="1"/>
              <a:t>каталогів</a:t>
            </a:r>
            <a:r>
              <a:rPr lang="ru-RU" dirty="0"/>
              <a:t> </a:t>
            </a:r>
            <a:r>
              <a:rPr lang="ru-RU" dirty="0" err="1"/>
              <a:t>товарів</a:t>
            </a:r>
            <a:r>
              <a:rPr lang="ru-RU" dirty="0"/>
              <a:t> в системах </a:t>
            </a:r>
            <a:r>
              <a:rPr lang="ru-RU" dirty="0" err="1"/>
              <a:t>електронної</a:t>
            </a:r>
            <a:r>
              <a:rPr lang="ru-RU" dirty="0"/>
              <a:t> </a:t>
            </a:r>
            <a:r>
              <a:rPr lang="ru-RU" dirty="0" err="1"/>
              <a:t>комерції</a:t>
            </a:r>
            <a:r>
              <a:rPr lang="ru-RU" dirty="0"/>
              <a:t> на </a:t>
            </a:r>
            <a:r>
              <a:rPr lang="ru-RU" dirty="0" err="1"/>
              <a:t>основі</a:t>
            </a:r>
            <a:r>
              <a:rPr lang="ru-RU" dirty="0"/>
              <a:t> </a:t>
            </a:r>
            <a:r>
              <a:rPr lang="ru-RU" dirty="0" err="1"/>
              <a:t>гетерогенних</a:t>
            </a:r>
            <a:r>
              <a:rPr lang="ru-RU" dirty="0"/>
              <a:t> баз </a:t>
            </a:r>
            <a:r>
              <a:rPr lang="ru-RU" dirty="0" err="1"/>
              <a:t>даних</a:t>
            </a:r>
            <a:r>
              <a:rPr lang="ru-RU" dirty="0"/>
              <a:t>» в </a:t>
            </a:r>
            <a:r>
              <a:rPr lang="ru-RU" dirty="0" err="1"/>
              <a:t>журналі</a:t>
            </a:r>
            <a:r>
              <a:rPr lang="ru-RU" dirty="0"/>
              <a:t> </a:t>
            </a:r>
            <a:r>
              <a:rPr lang="ru-RU" dirty="0" err="1"/>
              <a:t>категорії</a:t>
            </a:r>
            <a:r>
              <a:rPr lang="ru-RU" dirty="0"/>
              <a:t> А «</a:t>
            </a:r>
            <a:r>
              <a:rPr lang="ru-RU" dirty="0" err="1"/>
              <a:t>Сучасний</a:t>
            </a:r>
            <a:r>
              <a:rPr lang="ru-RU" dirty="0"/>
              <a:t> стан </a:t>
            </a:r>
            <a:r>
              <a:rPr lang="ru-RU" dirty="0" err="1"/>
              <a:t>наукових</a:t>
            </a:r>
            <a:r>
              <a:rPr lang="ru-RU" dirty="0"/>
              <a:t> </a:t>
            </a:r>
            <a:r>
              <a:rPr lang="ru-RU" dirty="0" err="1"/>
              <a:t>досліджень</a:t>
            </a:r>
            <a:r>
              <a:rPr lang="ru-RU" dirty="0"/>
              <a:t> та </a:t>
            </a:r>
            <a:r>
              <a:rPr lang="ru-RU" dirty="0" err="1"/>
              <a:t>технологій</a:t>
            </a:r>
            <a:r>
              <a:rPr lang="ru-RU" dirty="0"/>
              <a:t> в </a:t>
            </a:r>
            <a:r>
              <a:rPr lang="ru-RU" dirty="0" err="1"/>
              <a:t>промисловості</a:t>
            </a:r>
            <a:r>
              <a:rPr lang="ru-RU" dirty="0"/>
              <a:t>»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66024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D5AF83-52EA-48AF-AAB8-D7747920F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0"/>
            <a:ext cx="11360799" cy="1237723"/>
          </a:xfrm>
        </p:spPr>
        <p:txBody>
          <a:bodyPr anchor="ctr" anchorCtr="0"/>
          <a:lstStyle/>
          <a:p>
            <a:pPr algn="ctr"/>
            <a:r>
              <a:rPr lang="uk-UA" dirty="0"/>
              <a:t>Висновки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5F6549-95D6-432B-84DC-980F185B6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435677"/>
            <a:ext cx="11360800" cy="418459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uk-UA" dirty="0"/>
              <a:t>Вирішено актуальне науково-практичне завдання щодо підвищення ефективності підсистем каталогів товарів у системах електронної комерції шляхом застосування гетерогенних баз даних;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uk-UA" dirty="0" err="1"/>
              <a:t>Спроєктовано</a:t>
            </a:r>
            <a:r>
              <a:rPr lang="uk-UA" dirty="0"/>
              <a:t> </a:t>
            </a:r>
            <a:r>
              <a:rPr lang="uk-UA" dirty="0" err="1"/>
              <a:t>інфологічну</a:t>
            </a:r>
            <a:r>
              <a:rPr lang="uk-UA" dirty="0"/>
              <a:t> концептуальну модель предметної області та здійснено програмну реалізацію розроблених моделей на платформі .NET за принципами </a:t>
            </a:r>
            <a:r>
              <a:rPr lang="uk-UA" dirty="0" err="1"/>
              <a:t>Clean</a:t>
            </a:r>
            <a:r>
              <a:rPr lang="uk-UA" dirty="0"/>
              <a:t> </a:t>
            </a:r>
            <a:r>
              <a:rPr lang="uk-UA" dirty="0" err="1"/>
              <a:t>Architecture</a:t>
            </a:r>
            <a:r>
              <a:rPr lang="uk-UA" dirty="0"/>
              <a:t>;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uk-UA" dirty="0"/>
              <a:t>Проведено експериментальне дослідження продуктивності, яке підтвердило перевагу архітектури з </a:t>
            </a:r>
            <a:r>
              <a:rPr lang="en-US" dirty="0"/>
              <a:t>Redis </a:t>
            </a:r>
            <a:r>
              <a:rPr lang="uk-UA" dirty="0"/>
              <a:t>у швидкості читання та вищу стабільність рішення з </a:t>
            </a:r>
            <a:r>
              <a:rPr lang="en-US" dirty="0"/>
              <a:t>MongoDB </a:t>
            </a:r>
            <a:r>
              <a:rPr lang="uk-UA" dirty="0"/>
              <a:t>при конкурентних змішаних навантаженнях;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uk-UA" dirty="0"/>
              <a:t>Практично підтверджено високу надійність </a:t>
            </a:r>
            <a:r>
              <a:rPr lang="uk-UA" dirty="0" err="1"/>
              <a:t>патерну</a:t>
            </a:r>
            <a:r>
              <a:rPr lang="uk-UA" dirty="0"/>
              <a:t> </a:t>
            </a:r>
            <a:r>
              <a:rPr lang="en-US" dirty="0"/>
              <a:t>Eventual Consistency </a:t>
            </a:r>
            <a:r>
              <a:rPr lang="uk-UA" dirty="0"/>
              <a:t>для забезпечення синхронізації даних між гетерогенними сховищами;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ru-RU" dirty="0"/>
              <a:t>За результатами </a:t>
            </a:r>
            <a:r>
              <a:rPr lang="ru-RU" dirty="0" err="1"/>
              <a:t>дослідження</a:t>
            </a:r>
            <a:r>
              <a:rPr lang="ru-RU" dirty="0"/>
              <a:t> </a:t>
            </a:r>
            <a:r>
              <a:rPr lang="ru-RU" dirty="0" err="1"/>
              <a:t>опубліковано</a:t>
            </a:r>
            <a:r>
              <a:rPr lang="ru-RU" dirty="0"/>
              <a:t> </a:t>
            </a:r>
            <a:r>
              <a:rPr lang="ru-RU" dirty="0" err="1"/>
              <a:t>тези</a:t>
            </a:r>
            <a:r>
              <a:rPr lang="ru-RU" dirty="0"/>
              <a:t> </a:t>
            </a:r>
            <a:r>
              <a:rPr lang="ru-RU" dirty="0" err="1"/>
              <a:t>доповіді</a:t>
            </a:r>
            <a:r>
              <a:rPr lang="ru-RU" dirty="0"/>
              <a:t> в </a:t>
            </a:r>
            <a:r>
              <a:rPr lang="ru-RU" dirty="0" err="1"/>
              <a:t>матеріалах</a:t>
            </a:r>
            <a:r>
              <a:rPr lang="ru-RU" dirty="0"/>
              <a:t> </a:t>
            </a:r>
            <a:r>
              <a:rPr lang="ru-RU" dirty="0" err="1"/>
              <a:t>наукової</a:t>
            </a:r>
            <a:r>
              <a:rPr lang="ru-RU" dirty="0"/>
              <a:t> </a:t>
            </a:r>
            <a:r>
              <a:rPr lang="ru-RU" dirty="0" err="1"/>
              <a:t>конференції</a:t>
            </a:r>
            <a:r>
              <a:rPr lang="ru-RU" dirty="0"/>
              <a:t> та подано </a:t>
            </a:r>
            <a:r>
              <a:rPr lang="ru-RU" dirty="0" err="1"/>
              <a:t>матеріали</a:t>
            </a:r>
            <a:r>
              <a:rPr lang="ru-RU" dirty="0"/>
              <a:t> </a:t>
            </a:r>
            <a:r>
              <a:rPr lang="ru-RU" dirty="0" err="1"/>
              <a:t>статті</a:t>
            </a:r>
            <a:r>
              <a:rPr lang="ru-RU" dirty="0"/>
              <a:t> в </a:t>
            </a:r>
            <a:r>
              <a:rPr lang="ru-RU" dirty="0" err="1"/>
              <a:t>фаховий</a:t>
            </a:r>
            <a:r>
              <a:rPr lang="ru-RU" dirty="0"/>
              <a:t> журнал </a:t>
            </a:r>
            <a:r>
              <a:rPr lang="ru-RU" dirty="0" err="1"/>
              <a:t>категорії</a:t>
            </a:r>
            <a:r>
              <a:rPr lang="ru-RU" dirty="0"/>
              <a:t> «А».</a:t>
            </a:r>
            <a:endParaRPr lang="uk-UA" dirty="0"/>
          </a:p>
        </p:txBody>
      </p:sp>
      <p:pic>
        <p:nvPicPr>
          <p:cNvPr id="4" name="Picture 2" descr="https://p16-common-sign.tiktokcdn.com/tos-maliva-avt-0068/5244146547d5249da6970c67319c7d37~tplv-tiktokx-cropcenter:1080:1080.jpeg?dr=14579&amp;refresh_token=5aefbf5b&amp;x-expires=1777737600&amp;x-signature=7Sm9BTim8qzp8zhfWBA7WTp1J20%3D&amp;t=4d5b0474&amp;ps=13740610&amp;shp=a5d48078&amp;shcp=81f88b70&amp;idc=my2">
            <a:extLst>
              <a:ext uri="{FF2B5EF4-FFF2-40B4-BE49-F238E27FC236}">
                <a16:creationId xmlns:a16="http://schemas.microsoft.com/office/drawing/2014/main" id="{80448808-B522-43F8-B95F-A1951409C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42593" y1="25833" x2="9907" y2="26204"/>
                        <a14:foregroundMark x1="7222" y1="66574" x2="7500" y2="68333"/>
                        <a14:foregroundMark x1="18889" y1="68426" x2="19167" y2="70093"/>
                        <a14:foregroundMark x1="32685" y1="68148" x2="32593" y2="65370"/>
                        <a14:foregroundMark x1="41574" y1="65926" x2="41481" y2="70000"/>
                        <a14:foregroundMark x1="53889" y1="66204" x2="52778" y2="68426"/>
                        <a14:foregroundMark x1="66944" y1="68704" x2="69352" y2="68426"/>
                        <a14:foregroundMark x1="77130" y1="67222" x2="76389" y2="69444"/>
                        <a14:foregroundMark x1="89352" y1="68426" x2="90741" y2="68704"/>
                        <a14:foregroundMark x1="18426" y1="76944" x2="18519" y2="76944"/>
                        <a14:foregroundMark x1="24167" y1="76574" x2="24167" y2="76574"/>
                        <a14:foregroundMark x1="33426" y1="77593" x2="33426" y2="77593"/>
                        <a14:foregroundMark x1="37500" y1="76944" x2="37500" y2="76944"/>
                        <a14:foregroundMark x1="37500" y1="75093" x2="37500" y2="75093"/>
                        <a14:foregroundMark x1="44444" y1="76574" x2="44444" y2="76574"/>
                        <a14:foregroundMark x1="52315" y1="77222" x2="52315" y2="77222"/>
                        <a14:foregroundMark x1="59259" y1="77222" x2="59259" y2="77222"/>
                        <a14:foregroundMark x1="63796" y1="76944" x2="63796" y2="76944"/>
                        <a14:foregroundMark x1="69167" y1="76667" x2="69167" y2="76667"/>
                        <a14:foregroundMark x1="69352" y1="75278" x2="69352" y2="75278"/>
                        <a14:foregroundMark x1="73333" y1="77037" x2="73333" y2="77037"/>
                        <a14:foregroundMark x1="84444" y1="78796" x2="84444" y2="78796"/>
                        <a14:backgroundMark x1="68333" y1="69907" x2="68333" y2="69907"/>
                        <a14:backgroundMark x1="89722" y1="67500" x2="89722" y2="67500"/>
                        <a14:backgroundMark x1="82870" y1="77500" x2="82870" y2="77500"/>
                        <a14:backgroundMark x1="57593" y1="77037" x2="57593" y2="77037"/>
                        <a14:backgroundMark x1="50741" y1="77037" x2="50741" y2="77037"/>
                        <a14:backgroundMark x1="31667" y1="77685" x2="31667" y2="77685"/>
                        <a14:backgroundMark x1="16667" y1="77037" x2="16667" y2="77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8" y="5620277"/>
            <a:ext cx="1126758" cy="11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A14E70-11E4-4E55-B8D8-56E552106DD8}"/>
              </a:ext>
            </a:extLst>
          </p:cNvPr>
          <p:cNvSpPr txBox="1"/>
          <p:nvPr/>
        </p:nvSpPr>
        <p:spPr>
          <a:xfrm>
            <a:off x="11704320" y="6141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z="2400"/>
              <a:t>21</a:t>
            </a:fld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41263571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" id="{8855F006-6CF5-45ED-AA32-6AF957134D8E}" vid="{33ABB0F5-E717-4DBC-A680-0765548A066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803</TotalTime>
  <Words>3199</Words>
  <Application>Microsoft Office PowerPoint</Application>
  <PresentationFormat>Широкоэкранный</PresentationFormat>
  <Paragraphs>608</Paragraphs>
  <Slides>21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Arial</vt:lpstr>
      <vt:lpstr>Calibri</vt:lpstr>
      <vt:lpstr>Cambria Math</vt:lpstr>
      <vt:lpstr>Economica</vt:lpstr>
      <vt:lpstr>Open Sans</vt:lpstr>
      <vt:lpstr>Times New Roman</vt:lpstr>
      <vt:lpstr>Тема</vt:lpstr>
      <vt:lpstr>Дослідження підходів до організації гетерогенних баз даних на основі NoSQL-систем для оптимізації роботи каталогів товарів в системах електронної комерції</vt:lpstr>
      <vt:lpstr>Актуальність дослідження</vt:lpstr>
      <vt:lpstr>Постановка задачі</vt:lpstr>
      <vt:lpstr>Аналіз та вибір методів</vt:lpstr>
      <vt:lpstr>Вибір методів реалізації каталогів товарів у гетерогенних БД</vt:lpstr>
      <vt:lpstr>Аналіз предметної області</vt:lpstr>
      <vt:lpstr>Логічна модель MS SQL + MongoDB</vt:lpstr>
      <vt:lpstr>Логічна модель MS SQL + Redis</vt:lpstr>
      <vt:lpstr>Архітектура програмної системи</vt:lpstr>
      <vt:lpstr>Планування експериментального дослідження</vt:lpstr>
      <vt:lpstr>Запити для експериментального дослідження</vt:lpstr>
      <vt:lpstr>Організація навантажувального тестування</vt:lpstr>
      <vt:lpstr>Методологія тестування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Розроблені рекомендації</vt:lpstr>
      <vt:lpstr>Презентация PowerPoint</vt:lpstr>
      <vt:lpstr>Висновки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Artem</dc:creator>
  <cp:lastModifiedBy>Artem</cp:lastModifiedBy>
  <cp:revision>77</cp:revision>
  <dcterms:created xsi:type="dcterms:W3CDTF">2026-04-30T15:44:43Z</dcterms:created>
  <dcterms:modified xsi:type="dcterms:W3CDTF">2026-05-07T08:45:40Z</dcterms:modified>
</cp:coreProperties>
</file>